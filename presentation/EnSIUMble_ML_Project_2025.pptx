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EnSIUMble. Two datasets, six model families, one final stacked model. The through-line: every choice is justified empirically.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that frame the whole talk. Two perfect classification results, one noise ceiling, one regression number that is 45% better than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downstream depends on this protocol being honest. 5-fold CV, seed 42, and a test set nobody touched until the final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 of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plateaus in the mid-seventies; a degree-2 kernel separates the set exactly. The interactions matter, but they are pairwise.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linear models degenerate into majority-class classifiers. The instructive comparison is SVM at 85.65% against a two-unit network at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 of the classification section. Four families agreeing to four significant figures is a noise floor, and K-NN is the confirming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Regularisation beating OLS was the first signal worth chasing. A heavy ridge penalty winning is itself the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component holds over 95% of input variance. But high input variance does not imply correlation with the target, so the component count entered the grid as a hyperparameter.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non-parametric models land near 15 MEE on a reduced component space. Note the different optimal component counts — 6 for K-NN, 4 for SVR.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one exhaustive sweep — successive medium searches, each reading the previous top-10 table. Four findings held across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gap is what motivates the whole ensembling section. Validation flattens near 18.6 while training keeps falling past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three — the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Krogh and Vedelsby's decomposition is the design rationale, not a footnote. Raising heterogeneity is the only lever that lowers ensemble error without making any member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42 was lucky. That is the finding: the ensemble is not the best number on the page, it is the number you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top-10 table splits cleanly along the optimiser. Two regularisation regimes reaching comparable error is free ambiguity.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Maximum heterogeneity. Three families, out-of-fold predictions, a RidgeCV meta-learner at alpha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K-NN's zero training error is memorisation — which is exactly why it helps: its error pattern is uncorrelated with the MLP's. Validation-to-test drift is 0.0426.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study in one chart: 26.18 down to 14.33, a 45% reduction against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trade-off, not the trophy. For a latency-bound deployment the K-NN member alone would be the honest first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185988"/>
            <a:ext cx="133350" cy="133350"/>
          </a:xfrm>
          <a:prstGeom prst="ellipse">
            <a:avLst/>
          </a:prstGeom>
          <a:solidFill>
            <a:srgbClr val="9184D9"/>
          </a:solidFill>
          <a:ln/>
          <a:effectLst>
            <a:outerShdw sx="100000" sy="100000" kx="0" ky="0" algn="bl" rotWithShape="0" blurRad="209550" dist="50800" dir="16200000">
              <a:srgbClr val="9184D9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8250" y="2109788"/>
            <a:ext cx="31276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29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ENSIUMBLE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2814638"/>
            <a:ext cx="11349045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1"/>
              </a:lnSpc>
              <a:buNone/>
            </a:pPr>
            <a:r>
              <a:rPr lang="en-US" sz="7800" spc="-234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Project 25/26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5291138"/>
            <a:ext cx="7464141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140"/>
              </a:lnSpc>
              <a:buNone/>
            </a:pPr>
            <a:r>
              <a:rPr lang="en-US" sz="28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comparison, ensembling and a stacking meta-learner across the MONK benchmarks and ML_CUP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7510462"/>
            <a:ext cx="31866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Francesco Bernardini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7920038"/>
            <a:ext cx="31866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Science (AI)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11439" y="7510462"/>
            <a:ext cx="27771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Iacono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11439" y="7920038"/>
            <a:ext cx="27771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Science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98160" y="7510462"/>
            <a:ext cx="58852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Pisa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98160" y="7920038"/>
            <a:ext cx="58852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type B · scikit-learn · PyTorch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81125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spc="-120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results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3895725" cy="2743200"/>
          </a:xfrm>
          <a:prstGeom prst="roundRect">
            <a:avLst>
              <a:gd name="adj" fmla="val 5556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95400" y="2962275"/>
            <a:ext cx="35309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6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371850"/>
            <a:ext cx="353091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148" kern="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295400" y="4238625"/>
            <a:ext cx="330622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on MONK-1 and MONK-2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14925" y="2581275"/>
            <a:ext cx="3895725" cy="2743200"/>
          </a:xfrm>
          <a:prstGeom prst="roundRect">
            <a:avLst>
              <a:gd name="adj" fmla="val 5556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57825" y="2962275"/>
            <a:ext cx="35309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D9A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CEILING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57825" y="3371850"/>
            <a:ext cx="353091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148" kern="0" dirty="0">
                <a:solidFill>
                  <a:srgbClr val="E5B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97.22%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5457825" y="4238625"/>
            <a:ext cx="330622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MONK-3, reached by four model families alike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77350" y="2581275"/>
            <a:ext cx="3895725" cy="2743200"/>
          </a:xfrm>
          <a:prstGeom prst="roundRect">
            <a:avLst>
              <a:gd name="adj" fmla="val 5556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20250" y="2962275"/>
            <a:ext cx="35309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20250" y="3371850"/>
            <a:ext cx="353091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148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14.3289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9620250" y="4238625"/>
            <a:ext cx="330622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ML_CUP test MEE via RidgeCV stacking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39775" y="2581275"/>
            <a:ext cx="3895725" cy="2743200"/>
          </a:xfrm>
          <a:prstGeom prst="roundRect">
            <a:avLst>
              <a:gd name="adj" fmla="val 5556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82675" y="2962275"/>
            <a:ext cx="35309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6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82675" y="3371850"/>
            <a:ext cx="353091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spc="-148" kern="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−45.3%</a:t>
            </a:r>
            <a:endParaRPr lang="en-US" sz="4950" dirty="0"/>
          </a:p>
        </p:txBody>
      </p:sp>
      <p:sp>
        <p:nvSpPr>
          <p:cNvPr id="19" name="Text 17"/>
          <p:cNvSpPr/>
          <p:nvPr/>
        </p:nvSpPr>
        <p:spPr>
          <a:xfrm>
            <a:off x="13782675" y="4238625"/>
            <a:ext cx="330622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OLS baseline of 26.1816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" y="5819775"/>
            <a:ext cx="13618854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model families — linear, regularised linear, K-NN, kernel SVM and PyTorch MLPs — run twice: on synthetic MONK classification, and on high-dimensional ML_CUP regression.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spc="-120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experimental protocol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52650"/>
            <a:ext cx="8020050" cy="4255443"/>
          </a:xfrm>
          <a:prstGeom prst="roundRect">
            <a:avLst>
              <a:gd name="adj" fmla="val 3581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E313E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2571750"/>
            <a:ext cx="79000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MONK 1–3 · CLASSIFICATION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9425"/>
            <a:ext cx="7397306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Diagnostic, not competitive. Each family is tuned rigorously, but no cross-family selection is made — the deliverable is an argument about hypothesis space and data quality.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5038725"/>
            <a:ext cx="739730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categorical features → 17 binary · 432 test samples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315450" y="2152650"/>
            <a:ext cx="8020050" cy="4255443"/>
          </a:xfrm>
          <a:prstGeom prst="roundRect">
            <a:avLst>
              <a:gd name="adj" fmla="val 3581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E313E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34550" y="2571750"/>
            <a:ext cx="79000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ML_CUP · 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34550" y="3019425"/>
            <a:ext cx="739730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is Mean Euclidean Error over a two-dimensional target:</a:t>
            </a:r>
            <a:endParaRPr lang="en-US" sz="2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4550" y="4124325"/>
            <a:ext cx="7181850" cy="18646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52500" y="6903393"/>
            <a:ext cx="5283101" cy="1752600"/>
          </a:xfrm>
          <a:prstGeom prst="roundRect">
            <a:avLst>
              <a:gd name="adj" fmla="val 7609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276350" y="7208193"/>
            <a:ext cx="50989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5-fold CV · seed 42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276350" y="7646343"/>
            <a:ext cx="477446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hyperparameter search is scored identically and reproducibly.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6502301" y="6903393"/>
            <a:ext cx="5283250" cy="1752600"/>
          </a:xfrm>
          <a:prstGeom prst="roundRect">
            <a:avLst>
              <a:gd name="adj" fmla="val 7609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26151" y="7208193"/>
            <a:ext cx="509910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/ 100 split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6826151" y="7646343"/>
            <a:ext cx="4774616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carries all model selection; 20% stays untouched until final assessment.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2052250" y="6903393"/>
            <a:ext cx="5283101" cy="1752600"/>
          </a:xfrm>
          <a:prstGeom prst="roundRect">
            <a:avLst>
              <a:gd name="adj" fmla="val 7609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2376100" y="7208193"/>
            <a:ext cx="50989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Glorot / He init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76100" y="7646343"/>
            <a:ext cx="477446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Activation-specific schemes; classification nets use BCE with a sigmoid output.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05125"/>
            <a:ext cx="180213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06"/>
              </a:lnSpc>
              <a:buNone/>
            </a:pPr>
            <a:r>
              <a:rPr lang="en-US" sz="15000" b="1" spc="-600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5114925"/>
            <a:ext cx="180213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spc="-19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MONK's classification benchmark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6391275"/>
            <a:ext cx="10214064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7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problems, one controlled ladder — isolating a hypothesis space that is too poor from a target that is partly unlearnable.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935378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MONK-1 — non-linear, but only just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4104144" y="1114425"/>
            <a:ext cx="3231356" cy="514350"/>
          </a:xfrm>
          <a:prstGeom prst="roundRect">
            <a:avLst>
              <a:gd name="adj" fmla="val 18519"/>
            </a:avLst>
          </a:prstGeom>
          <a:solidFill>
            <a:srgbClr val="56C99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332744" y="1228725"/>
            <a:ext cx="287109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SOLVED · 100.00%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490788"/>
            <a:ext cx="3951536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105025"/>
            <a:ext cx="387958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04036" y="2490788"/>
            <a:ext cx="8437364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8" name="Text 6"/>
          <p:cNvSpPr/>
          <p:nvPr/>
        </p:nvSpPr>
        <p:spPr>
          <a:xfrm>
            <a:off x="5094536" y="2105025"/>
            <a:ext cx="830948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HYPERPARAMETERS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341400" y="2490788"/>
            <a:ext cx="2401193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10" name="Text 8"/>
          <p:cNvSpPr/>
          <p:nvPr/>
        </p:nvSpPr>
        <p:spPr>
          <a:xfrm>
            <a:off x="13455700" y="2105025"/>
            <a:ext cx="228689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ACC.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742593" y="2490788"/>
            <a:ext cx="1593354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12" name="Text 10"/>
          <p:cNvSpPr/>
          <p:nvPr/>
        </p:nvSpPr>
        <p:spPr>
          <a:xfrm>
            <a:off x="15856893" y="2105025"/>
            <a:ext cx="147905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3233738"/>
            <a:ext cx="3951536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690813"/>
            <a:ext cx="387958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904036" y="3233738"/>
            <a:ext cx="84373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6" name="Text 14"/>
          <p:cNvSpPr/>
          <p:nvPr/>
        </p:nvSpPr>
        <p:spPr>
          <a:xfrm>
            <a:off x="5094536" y="2690813"/>
            <a:ext cx="830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 = 0.1 · saga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41400" y="3233738"/>
            <a:ext cx="2401193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8" name="Text 16"/>
          <p:cNvSpPr/>
          <p:nvPr/>
        </p:nvSpPr>
        <p:spPr>
          <a:xfrm>
            <a:off x="13455700" y="2690813"/>
            <a:ext cx="22868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75.00%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5742593" y="3233738"/>
            <a:ext cx="159335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0" name="Text 18"/>
          <p:cNvSpPr/>
          <p:nvPr/>
        </p:nvSpPr>
        <p:spPr>
          <a:xfrm>
            <a:off x="15856893" y="2690813"/>
            <a:ext cx="14790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0.2500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52500" y="3976687"/>
            <a:ext cx="3951536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3433763"/>
            <a:ext cx="387958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Classifier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904036" y="3976687"/>
            <a:ext cx="84373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4" name="Text 22"/>
          <p:cNvSpPr/>
          <p:nvPr/>
        </p:nvSpPr>
        <p:spPr>
          <a:xfrm>
            <a:off x="5094536" y="3433763"/>
            <a:ext cx="830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λ = 0.001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341400" y="3976687"/>
            <a:ext cx="2401193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6" name="Text 24"/>
          <p:cNvSpPr/>
          <p:nvPr/>
        </p:nvSpPr>
        <p:spPr>
          <a:xfrm>
            <a:off x="13455700" y="3433763"/>
            <a:ext cx="22868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73.61%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742593" y="3976687"/>
            <a:ext cx="159335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8" name="Text 26"/>
          <p:cNvSpPr/>
          <p:nvPr/>
        </p:nvSpPr>
        <p:spPr>
          <a:xfrm>
            <a:off x="15856893" y="3433763"/>
            <a:ext cx="14790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0.2639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2500" y="4719638"/>
            <a:ext cx="3951536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4176712"/>
            <a:ext cx="387958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4904036" y="4719638"/>
            <a:ext cx="84373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2" name="Text 30"/>
          <p:cNvSpPr/>
          <p:nvPr/>
        </p:nvSpPr>
        <p:spPr>
          <a:xfrm>
            <a:off x="5094536" y="4176712"/>
            <a:ext cx="830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15 · uniform · p = 1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341400" y="4719638"/>
            <a:ext cx="2401193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4" name="Text 32"/>
          <p:cNvSpPr/>
          <p:nvPr/>
        </p:nvSpPr>
        <p:spPr>
          <a:xfrm>
            <a:off x="13455700" y="4176712"/>
            <a:ext cx="22868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77.31%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5742593" y="4719638"/>
            <a:ext cx="159335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6" name="Text 34"/>
          <p:cNvSpPr/>
          <p:nvPr/>
        </p:nvSpPr>
        <p:spPr>
          <a:xfrm>
            <a:off x="15856893" y="4176712"/>
            <a:ext cx="14790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0.2269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2500" y="5462588"/>
            <a:ext cx="3951536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4919663"/>
            <a:ext cx="387958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4904036" y="5462588"/>
            <a:ext cx="84373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40" name="Text 38"/>
          <p:cNvSpPr/>
          <p:nvPr/>
        </p:nvSpPr>
        <p:spPr>
          <a:xfrm>
            <a:off x="5094536" y="4919663"/>
            <a:ext cx="83094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 · degree 2 · C = 10 · coef0 = 1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3341400" y="5462588"/>
            <a:ext cx="2401193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42" name="Text 40"/>
          <p:cNvSpPr/>
          <p:nvPr/>
        </p:nvSpPr>
        <p:spPr>
          <a:xfrm>
            <a:off x="13455700" y="4919663"/>
            <a:ext cx="22868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100.00%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15742593" y="5462588"/>
            <a:ext cx="159335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44" name="Text 42"/>
          <p:cNvSpPr/>
          <p:nvPr/>
        </p:nvSpPr>
        <p:spPr>
          <a:xfrm>
            <a:off x="15856893" y="4919663"/>
            <a:ext cx="14790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952500" y="5662613"/>
            <a:ext cx="3879582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MLP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5094536" y="5662613"/>
            <a:ext cx="8309485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hidden layer · 2–4 units · BCE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3455700" y="5662613"/>
            <a:ext cx="2286893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100.00%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15856893" y="5662613"/>
            <a:ext cx="1479054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952500" y="6553200"/>
            <a:ext cx="1571406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records zero false positives alongside 108 false negatives — the signature of a boundary that cannot bend. Degree 2 winning over degree 3 says the required interactions are simple.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3153763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MONK-2 — linear models collapse into the class prior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4104144" y="1114425"/>
            <a:ext cx="3231356" cy="514350"/>
          </a:xfrm>
          <a:prstGeom prst="roundRect">
            <a:avLst>
              <a:gd name="adj" fmla="val 18519"/>
            </a:avLst>
          </a:prstGeom>
          <a:solidFill>
            <a:srgbClr val="56C99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332744" y="1228725"/>
            <a:ext cx="287109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SOLVED · 100.00%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571750"/>
            <a:ext cx="8868817" cy="819150"/>
          </a:xfrm>
          <a:prstGeom prst="roundRect">
            <a:avLst>
              <a:gd name="adj" fmla="val 13953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8250" y="2819400"/>
            <a:ext cx="67800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</a:t>
            </a:r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C = 0.01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440067" y="28003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67.13%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543300"/>
            <a:ext cx="8868817" cy="819150"/>
          </a:xfrm>
          <a:prstGeom prst="roundRect">
            <a:avLst>
              <a:gd name="adj" fmla="val 13953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8250" y="3790950"/>
            <a:ext cx="67800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Classifier </a:t>
            </a:r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λ = 500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440067" y="377190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67.13%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514850"/>
            <a:ext cx="8868817" cy="819150"/>
          </a:xfrm>
          <a:prstGeom prst="roundRect">
            <a:avLst>
              <a:gd name="adj" fmla="val 13953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8250" y="4762500"/>
            <a:ext cx="67800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 </a:t>
            </a:r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15 · distance · p = 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440067" y="47434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75.93%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5486400"/>
            <a:ext cx="8868817" cy="819150"/>
          </a:xfrm>
          <a:prstGeom prst="roundRect">
            <a:avLst>
              <a:gd name="adj" fmla="val 13953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38250" y="5734050"/>
            <a:ext cx="67800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</a:t>
            </a:r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 · degree 3 · C = 10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440067" y="571500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85.65%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2500" y="6457950"/>
            <a:ext cx="8868817" cy="819150"/>
          </a:xfrm>
          <a:prstGeom prst="roundRect">
            <a:avLst>
              <a:gd name="adj" fmla="val 13953"/>
            </a:avLst>
          </a:prstGeom>
          <a:solidFill>
            <a:srgbClr val="1F2133"/>
          </a:soli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38250" y="6705600"/>
            <a:ext cx="67800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MLP </a:t>
            </a:r>
            <a:pPr algn="l" indent="0" marL="0">
              <a:buNone/>
            </a:pPr>
            <a:r>
              <a:rPr lang="en-US" sz="18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layer · 2 units · ReLU · Adam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440067" y="6686550"/>
            <a:ext cx="20955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100.00%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240417" y="2571750"/>
            <a:ext cx="7095083" cy="4857750"/>
          </a:xfrm>
          <a:prstGeom prst="roundRect">
            <a:avLst>
              <a:gd name="adj" fmla="val 3137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02367" y="2914650"/>
            <a:ext cx="70083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confusion matrix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602367" y="3390900"/>
            <a:ext cx="70083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 test samples · AUC 0.56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617047" y="3819525"/>
            <a:ext cx="28230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78682" y="3819525"/>
            <a:ext cx="28231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02367" y="4519613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745367" y="4171950"/>
            <a:ext cx="2566392" cy="952500"/>
          </a:xfrm>
          <a:prstGeom prst="roundRect">
            <a:avLst>
              <a:gd name="adj" fmla="val 10000"/>
            </a:avLst>
          </a:prstGeom>
          <a:solidFill>
            <a:srgbClr val="56C99A">
              <a:alpha val="1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706871" y="4400550"/>
            <a:ext cx="26433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290</a:t>
            </a:r>
            <a:endParaRPr lang="en-US" sz="3450" dirty="0"/>
          </a:p>
        </p:txBody>
      </p:sp>
      <p:sp>
        <p:nvSpPr>
          <p:cNvPr id="28" name="Shape 26"/>
          <p:cNvSpPr/>
          <p:nvPr/>
        </p:nvSpPr>
        <p:spPr>
          <a:xfrm>
            <a:off x="14407009" y="4171950"/>
            <a:ext cx="2566541" cy="952500"/>
          </a:xfrm>
          <a:prstGeom prst="roundRect">
            <a:avLst>
              <a:gd name="adj" fmla="val 10000"/>
            </a:avLst>
          </a:prstGeom>
          <a:solidFill>
            <a:srgbClr val="D9A552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368511" y="4400550"/>
            <a:ext cx="26435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dirty="0">
                <a:solidFill>
                  <a:srgbClr val="E5B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50" dirty="0"/>
          </a:p>
        </p:txBody>
      </p:sp>
      <p:sp>
        <p:nvSpPr>
          <p:cNvPr id="30" name="Text 28"/>
          <p:cNvSpPr/>
          <p:nvPr/>
        </p:nvSpPr>
        <p:spPr>
          <a:xfrm>
            <a:off x="10602367" y="5567363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745367" y="5219700"/>
            <a:ext cx="2566392" cy="952500"/>
          </a:xfrm>
          <a:prstGeom prst="roundRect">
            <a:avLst>
              <a:gd name="adj" fmla="val 10000"/>
            </a:avLst>
          </a:prstGeom>
          <a:solidFill>
            <a:srgbClr val="D9A552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706871" y="5448300"/>
            <a:ext cx="264338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dirty="0">
                <a:solidFill>
                  <a:srgbClr val="E5B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  <a:endParaRPr lang="en-US" sz="3450" dirty="0"/>
          </a:p>
        </p:txBody>
      </p:sp>
      <p:sp>
        <p:nvSpPr>
          <p:cNvPr id="33" name="Shape 31"/>
          <p:cNvSpPr/>
          <p:nvPr/>
        </p:nvSpPr>
        <p:spPr>
          <a:xfrm>
            <a:off x="14407009" y="5219700"/>
            <a:ext cx="2566541" cy="952500"/>
          </a:xfrm>
          <a:prstGeom prst="roundRect">
            <a:avLst>
              <a:gd name="adj" fmla="val 10000"/>
            </a:avLst>
          </a:prstGeom>
          <a:solidFill>
            <a:srgbClr val="56C99A">
              <a:alpha val="1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4368511" y="5448300"/>
            <a:ext cx="26435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50" dirty="0"/>
          </a:p>
        </p:txBody>
      </p:sp>
      <p:sp>
        <p:nvSpPr>
          <p:cNvPr id="35" name="Text 33"/>
          <p:cNvSpPr/>
          <p:nvPr/>
        </p:nvSpPr>
        <p:spPr>
          <a:xfrm>
            <a:off x="10602367" y="6343650"/>
            <a:ext cx="656231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prediction falls in the left column: 67.13% is the class prior, not a classifier.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52500" y="7772400"/>
            <a:ext cx="1571406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and RBF maps are fixed in advance; the network learns an intermediate representation fitted to this target. When the required feature transform is unknown, learned features beat designed ones.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349633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MONK-3 — every family stops at the same number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4104144" y="1114425"/>
            <a:ext cx="3231356" cy="514350"/>
          </a:xfrm>
          <a:prstGeom prst="roundRect">
            <a:avLst>
              <a:gd name="adj" fmla="val 18519"/>
            </a:avLst>
          </a:prstGeom>
          <a:solidFill>
            <a:srgbClr val="D9A55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4332744" y="1228725"/>
            <a:ext cx="287109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E5B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CEILING · 97.22%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1990725"/>
            <a:ext cx="3108871" cy="1857375"/>
          </a:xfrm>
          <a:prstGeom prst="roundRect">
            <a:avLst>
              <a:gd name="adj" fmla="val 7179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00150" y="2295525"/>
            <a:ext cx="28749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00150" y="2714625"/>
            <a:ext cx="28749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97.22%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00150" y="3286125"/>
            <a:ext cx="28749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 =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70921" y="1990725"/>
            <a:ext cx="3109020" cy="1857375"/>
          </a:xfrm>
          <a:prstGeom prst="roundRect">
            <a:avLst>
              <a:gd name="adj" fmla="val 7179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8571" y="2295525"/>
            <a:ext cx="28750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18571" y="2714625"/>
            <a:ext cx="28750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97.22%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518571" y="3286125"/>
            <a:ext cx="28750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λ = 0.001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89490" y="1990725"/>
            <a:ext cx="3108871" cy="1857375"/>
          </a:xfrm>
          <a:prstGeom prst="roundRect">
            <a:avLst>
              <a:gd name="adj" fmla="val 7179"/>
            </a:avLst>
          </a:prstGeom>
          <a:solidFill>
            <a:srgbClr val="2A2434"/>
          </a:solidFill>
          <a:ln/>
          <a:effectLst>
            <a:outerShdw sx="100000" sy="100000" kx="0" ky="0" algn="bl" rotWithShape="0" blurRad="101600" dist="50800" dir="16200000">
              <a:srgbClr val="4A3F5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37140" y="2295525"/>
            <a:ext cx="28749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837140" y="2714625"/>
            <a:ext cx="28749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5B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89.12%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7837140" y="3286125"/>
            <a:ext cx="28749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11 · uniform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07911" y="1990725"/>
            <a:ext cx="3109020" cy="1857375"/>
          </a:xfrm>
          <a:prstGeom prst="roundRect">
            <a:avLst>
              <a:gd name="adj" fmla="val 7179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155561" y="2295525"/>
            <a:ext cx="28750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155561" y="2714625"/>
            <a:ext cx="287509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97.22%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1155561" y="3286125"/>
            <a:ext cx="28750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· C = 0.1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226480" y="1990725"/>
            <a:ext cx="3108871" cy="1857375"/>
          </a:xfrm>
          <a:prstGeom prst="roundRect">
            <a:avLst>
              <a:gd name="adj" fmla="val 7179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474130" y="2295525"/>
            <a:ext cx="28749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MLP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474130" y="2714625"/>
            <a:ext cx="28749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97.22%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4474130" y="3286125"/>
            <a:ext cx="28749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hidden layers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4210050"/>
            <a:ext cx="16383000" cy="3209925"/>
          </a:xfrm>
          <a:prstGeom prst="roundRect">
            <a:avLst>
              <a:gd name="adj" fmla="val 4748"/>
            </a:avLst>
          </a:prstGeom>
          <a:gradFill rotWithShape="1">
            <a:gsLst>
              <a:gs pos="0">
                <a:srgbClr val="1F2133">
                  <a:alpha val="100000"/>
                </a:srgbClr>
              </a:gs>
              <a:gs pos="100000">
                <a:srgbClr val="1C1E2C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09700" y="4629150"/>
            <a:ext cx="170154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9A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TAKEAWAY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9700" y="5057775"/>
            <a:ext cx="15932658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 is the one model that memorises individual training points, and the one model that degrades. Mislabeled samples inside a K = 11 neighbourhood corrupt the vote, while parametric models fit a global boundary and average the corruption away. The binding constraint is data quality, not model capacity — further architecture search here is wasted budget.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05125"/>
            <a:ext cx="180213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06"/>
              </a:lnSpc>
              <a:buNone/>
            </a:pPr>
            <a:r>
              <a:rPr lang="en-US" sz="15000" b="1" spc="-600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5114925"/>
            <a:ext cx="180213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spc="-19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ML_CUP regression and dimensionality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6391275"/>
            <a:ext cx="10214064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7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collinear 12-feature input space, a two-dimensional target, and a baseline to beat.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baselines and regularisation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1990725"/>
            <a:ext cx="5283101" cy="3048000"/>
          </a:xfrm>
          <a:prstGeom prst="roundRect">
            <a:avLst>
              <a:gd name="adj" fmla="val 5000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14450" y="2371725"/>
            <a:ext cx="50151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· OLS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14450" y="2762250"/>
            <a:ext cx="501512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26.1816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314450" y="3543300"/>
            <a:ext cx="469597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Unregularised least squares. Everything after this is measured against it.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02301" y="1990725"/>
            <a:ext cx="5283250" cy="3048000"/>
          </a:xfrm>
          <a:prstGeom prst="roundRect">
            <a:avLst>
              <a:gd name="adj" fmla="val 5000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64251" y="2371725"/>
            <a:ext cx="50152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LASSO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64251" y="2762250"/>
            <a:ext cx="501528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25.6353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864251" y="3543300"/>
            <a:ext cx="46961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α = 0.1 over a six-point log grid from 1e-4 to 10.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052250" y="1990725"/>
            <a:ext cx="5283101" cy="3048000"/>
          </a:xfrm>
          <a:prstGeom prst="roundRect">
            <a:avLst>
              <a:gd name="adj" fmla="val 5000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414200" y="2371725"/>
            <a:ext cx="50151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RIDGE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14200" y="2762250"/>
            <a:ext cx="501512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25.5736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414200" y="3543300"/>
            <a:ext cx="469597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α = 100 — a heavy penalty winning is itself the diagnosis.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52500" y="5457825"/>
            <a:ext cx="1632508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regularisers improve on plain least squares, which points at either noise or collinearity. PCA settles which.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component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52500" y="1952625"/>
            <a:ext cx="810909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73"/>
              </a:lnSpc>
              <a:buNone/>
            </a:pPr>
            <a:r>
              <a:rPr lang="en-US" sz="7200" b="1" spc="-216" kern="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95%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52500" y="3133725"/>
            <a:ext cx="7593061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variance in the 12-dimensional input is explained by the first principal component alone. The features are near-collinear — which is exactly why a strong ridge penalty helped.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5343525"/>
            <a:ext cx="7593061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caveat is deliberate: high input variance does not imply high correlation with the target. So the number of components entered the grid as a hyperparameter over [1, 12], mostly to give K-NN a fighting chance against the curse of dimensionality.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857804" y="3147268"/>
            <a:ext cx="8477696" cy="3144738"/>
          </a:xfrm>
          <a:prstGeom prst="roundRect">
            <a:avLst>
              <a:gd name="adj" fmla="val 4240"/>
            </a:avLst>
          </a:prstGeom>
          <a:solidFill>
            <a:srgbClr val="0E1018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7804" y="3147268"/>
            <a:ext cx="8477696" cy="3144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 and SVR model selection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1990725"/>
            <a:ext cx="8020050" cy="4162425"/>
          </a:xfrm>
          <a:prstGeom prst="roundRect">
            <a:avLst>
              <a:gd name="adj" fmla="val 3661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0650" y="2476500"/>
            <a:ext cx="100756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53783" y="2409825"/>
            <a:ext cx="228867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15.1070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90650" y="3181350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6 · K = 3 · weights = distance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0650" y="3686175"/>
            <a:ext cx="7358063" cy="2085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Searched over K ∈ {3, 4, 5, 7, 10, 15, 20, 30} × {uniform, distance} × PCA ∈ [1, 12]. A small K winning on six components is the mirror image of MONK: the local neighbourhood is informative once redundant dimensions are stripped out.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315450" y="1990725"/>
            <a:ext cx="8020050" cy="4162425"/>
          </a:xfrm>
          <a:prstGeom prst="roundRect">
            <a:avLst>
              <a:gd name="adj" fmla="val 3661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53600" y="2476500"/>
            <a:ext cx="85963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816733" y="2409825"/>
            <a:ext cx="228867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15.5959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9753600" y="3181350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4 · RBF · C = 3 · γ = 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53600" y="3686175"/>
            <a:ext cx="7358063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kernels from the MONK study were re-run here — linear, RBF, polynomial (degree 1–4) and the two-layer perceptron kernel. RBF wins on four components with a moderate C: a smooth fit rather than a tightly-fitted one.</a:t>
            </a:r>
            <a:endParaRPr lang="en-US" sz="21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grid search and optimisation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1933575"/>
            <a:ext cx="8039100" cy="2952750"/>
          </a:xfrm>
          <a:prstGeom prst="roundRect">
            <a:avLst>
              <a:gd name="adj" fmla="val 5161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33500" y="2276475"/>
            <a:ext cx="8004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SEARCH · WINNER C0169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2686050"/>
            <a:ext cx="7495413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 = [32, 16] · act = tanh · opt = adam lr = 0.005 · wd = 0.001 · dropout = 0 · bs = 32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333500" y="3657600"/>
            <a:ext cx="800481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21.952 ± 0.844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296400" y="1933575"/>
            <a:ext cx="8039100" cy="2952750"/>
          </a:xfrm>
          <a:prstGeom prst="roundRect">
            <a:avLst>
              <a:gd name="adj" fmla="val 5161"/>
            </a:avLst>
          </a:prstGeom>
          <a:solidFill>
            <a:srgbClr val="1F2133"/>
          </a:soli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77400" y="2276475"/>
            <a:ext cx="8004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SEARCH · WINNER C0320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77400" y="2686050"/>
            <a:ext cx="7495413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2025" dirty="0">
                <a:solidFill>
                  <a:srgbClr val="D7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 = [256, 256, 128] · act = gelu · opt = adamw lr = 0.02 · wd = 0.1 · dropout = 0.1 · bs = 32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677400" y="4067175"/>
            <a:ext cx="800481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18.058 ± 1.168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52500" y="5248275"/>
            <a:ext cx="3924300" cy="2419350"/>
          </a:xfrm>
          <a:prstGeom prst="roundRect">
            <a:avLst>
              <a:gd name="adj" fmla="val 551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8250" y="5534025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= 32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8250" y="5972175"/>
            <a:ext cx="3453384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batches consistently minimised MEE — more gradient noise, better generalisation.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105400" y="5248275"/>
            <a:ext cx="3924300" cy="2419350"/>
          </a:xfrm>
          <a:prstGeom prst="roundRect">
            <a:avLst>
              <a:gd name="adj" fmla="val 551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1150" y="5534025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391150" y="5972175"/>
            <a:ext cx="3453384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far the best of five activations (Tanh, ReLU, GeLU, SeLU, eLU).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58300" y="5248275"/>
            <a:ext cx="3924300" cy="2419350"/>
          </a:xfrm>
          <a:prstGeom prst="roundRect">
            <a:avLst>
              <a:gd name="adj" fmla="val 551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44050" y="5534025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annealing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544050" y="5972175"/>
            <a:ext cx="3453384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improvement over ReduceLROnPlateau across configurations.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411200" y="5248275"/>
            <a:ext cx="3924300" cy="2419350"/>
          </a:xfrm>
          <a:prstGeom prst="roundRect">
            <a:avLst>
              <a:gd name="adj" fmla="val 551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696950" y="5534025"/>
            <a:ext cx="3688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 / AdamW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696950" y="5972175"/>
            <a:ext cx="3453384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best optimisers — and they disagree on weight decay, which stage 2 exploits.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generalisation gap that tuning would not close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1952625"/>
            <a:ext cx="8645128" cy="5029498"/>
          </a:xfrm>
          <a:prstGeom prst="roundRect">
            <a:avLst>
              <a:gd name="adj" fmla="val 2651"/>
            </a:avLst>
          </a:prstGeom>
          <a:solidFill>
            <a:srgbClr val="0E1018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952625"/>
            <a:ext cx="8645128" cy="5029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31028" y="2886224"/>
            <a:ext cx="7420453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C0320 learning curves. Validation flattens near 18.6 while training keeps falling past 11 — a gap of more than five MEE points that no further hyperparameter tuning closed.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0131028" y="5076974"/>
            <a:ext cx="7420453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was to stop optimising bias and start attacking variance.</a:t>
            </a:r>
            <a:endParaRPr lang="en-US" sz="2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05125"/>
            <a:ext cx="180213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06"/>
              </a:lnSpc>
              <a:buNone/>
            </a:pPr>
            <a:r>
              <a:rPr lang="en-US" sz="15000" b="1" spc="-600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5114925"/>
            <a:ext cx="180213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spc="-198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Ensembling and the stacking meta-learner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6391275"/>
            <a:ext cx="10214064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27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 of increasing heterogeneity: same model different seeds, then different models, then different families.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4335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ambiguity decomposition</a:t>
            </a:r>
            <a:endParaRPr lang="en-US" sz="4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586038"/>
            <a:ext cx="16383000" cy="3257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6338888"/>
            <a:ext cx="15714062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error equals the average member error minus the ambiguity — the variance among member predictions. Raising heterogeneity raises ambiguity, and is the only lever that lowers the ensemble's error without making any single member better.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52500" y="8405813"/>
            <a:ext cx="2972246" cy="638175"/>
          </a:xfrm>
          <a:prstGeom prst="roundRect">
            <a:avLst>
              <a:gd name="adj" fmla="val 17910"/>
            </a:avLst>
          </a:prstGeom>
          <a:solidFill>
            <a:srgbClr val="232532"/>
          </a:solidFill>
          <a:ln/>
        </p:spPr>
      </p:sp>
      <p:sp>
        <p:nvSpPr>
          <p:cNvPr id="6" name="Text 3"/>
          <p:cNvSpPr/>
          <p:nvPr/>
        </p:nvSpPr>
        <p:spPr>
          <a:xfrm>
            <a:off x="1238250" y="8577263"/>
            <a:ext cx="2489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seeds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4153346" y="8405813"/>
            <a:ext cx="3772495" cy="638175"/>
          </a:xfrm>
          <a:prstGeom prst="roundRect">
            <a:avLst>
              <a:gd name="adj" fmla="val 17910"/>
            </a:avLst>
          </a:prstGeom>
          <a:solidFill>
            <a:srgbClr val="232532"/>
          </a:solidFill>
          <a:ln/>
        </p:spPr>
      </p:sp>
      <p:sp>
        <p:nvSpPr>
          <p:cNvPr id="8" name="Text 5"/>
          <p:cNvSpPr/>
          <p:nvPr/>
        </p:nvSpPr>
        <p:spPr>
          <a:xfrm>
            <a:off x="4439096" y="8577263"/>
            <a:ext cx="331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optimisers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154442" y="8405813"/>
            <a:ext cx="4412605" cy="638175"/>
          </a:xfrm>
          <a:prstGeom prst="roundRect">
            <a:avLst>
              <a:gd name="adj" fmla="val 17910"/>
            </a:avLst>
          </a:prstGeom>
          <a:solidFill>
            <a:srgbClr val="2B2842"/>
          </a:solidFill>
          <a:ln/>
        </p:spPr>
      </p:sp>
      <p:sp>
        <p:nvSpPr>
          <p:cNvPr id="10" name="Text 7"/>
          <p:cNvSpPr/>
          <p:nvPr/>
        </p:nvSpPr>
        <p:spPr>
          <a:xfrm>
            <a:off x="8440192" y="8577263"/>
            <a:ext cx="39734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· model families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200150"/>
            <a:ext cx="14113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483197" y="914400"/>
            <a:ext cx="1304776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05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Multi-seed ensemble — one configuration, five seeds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338388"/>
            <a:ext cx="1792635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971675"/>
            <a:ext cx="171643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5135" y="2338388"/>
            <a:ext cx="3252490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7" name="Text 5"/>
          <p:cNvSpPr/>
          <p:nvPr/>
        </p:nvSpPr>
        <p:spPr>
          <a:xfrm>
            <a:off x="2799960" y="1971675"/>
            <a:ext cx="30452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MEE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97625" y="2338388"/>
            <a:ext cx="3297138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9" name="Text 7"/>
          <p:cNvSpPr/>
          <p:nvPr/>
        </p:nvSpPr>
        <p:spPr>
          <a:xfrm>
            <a:off x="6051110" y="1971675"/>
            <a:ext cx="324365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MEE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2957513"/>
            <a:ext cx="1792635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2500313"/>
            <a:ext cx="1716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42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745135" y="2957513"/>
            <a:ext cx="325249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3" name="Text 11"/>
          <p:cNvSpPr/>
          <p:nvPr/>
        </p:nvSpPr>
        <p:spPr>
          <a:xfrm>
            <a:off x="2799960" y="2500313"/>
            <a:ext cx="3045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12.7416 ± 3.6794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997625" y="2957513"/>
            <a:ext cx="3297138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5" name="Text 13"/>
          <p:cNvSpPr/>
          <p:nvPr/>
        </p:nvSpPr>
        <p:spPr>
          <a:xfrm>
            <a:off x="6051110" y="2500313"/>
            <a:ext cx="32436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18.0583 ± 1.1681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3576638"/>
            <a:ext cx="1792635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3119437"/>
            <a:ext cx="1716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123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745135" y="3576638"/>
            <a:ext cx="325249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9" name="Text 17"/>
          <p:cNvSpPr/>
          <p:nvPr/>
        </p:nvSpPr>
        <p:spPr>
          <a:xfrm>
            <a:off x="2799960" y="3119437"/>
            <a:ext cx="3045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15.7754 ± 5.0723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5997625" y="3576638"/>
            <a:ext cx="3297138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1" name="Text 19"/>
          <p:cNvSpPr/>
          <p:nvPr/>
        </p:nvSpPr>
        <p:spPr>
          <a:xfrm>
            <a:off x="6051110" y="3119437"/>
            <a:ext cx="32436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19.5028 ± 1.9016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52500" y="4195763"/>
            <a:ext cx="1792635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3738563"/>
            <a:ext cx="1716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456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745135" y="4195763"/>
            <a:ext cx="325249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5" name="Text 23"/>
          <p:cNvSpPr/>
          <p:nvPr/>
        </p:nvSpPr>
        <p:spPr>
          <a:xfrm>
            <a:off x="2799960" y="3738563"/>
            <a:ext cx="3045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17.6701 ± 3.4485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997625" y="4195763"/>
            <a:ext cx="3297138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7" name="Text 25"/>
          <p:cNvSpPr/>
          <p:nvPr/>
        </p:nvSpPr>
        <p:spPr>
          <a:xfrm>
            <a:off x="6051110" y="3738563"/>
            <a:ext cx="32436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20.5135 ± 1.0528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52500" y="4814888"/>
            <a:ext cx="1792635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4357688"/>
            <a:ext cx="1716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789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2745135" y="4814888"/>
            <a:ext cx="325249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1" name="Text 29"/>
          <p:cNvSpPr/>
          <p:nvPr/>
        </p:nvSpPr>
        <p:spPr>
          <a:xfrm>
            <a:off x="2799960" y="4357688"/>
            <a:ext cx="3045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12.5222 ± 4.0270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5997625" y="4814888"/>
            <a:ext cx="3297138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3" name="Text 31"/>
          <p:cNvSpPr/>
          <p:nvPr/>
        </p:nvSpPr>
        <p:spPr>
          <a:xfrm>
            <a:off x="6051110" y="4357688"/>
            <a:ext cx="32436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18.5787 ± 1.1755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52500" y="5434013"/>
            <a:ext cx="1792635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4976813"/>
            <a:ext cx="17164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2024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2745135" y="5434013"/>
            <a:ext cx="325249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7" name="Text 35"/>
          <p:cNvSpPr/>
          <p:nvPr/>
        </p:nvSpPr>
        <p:spPr>
          <a:xfrm>
            <a:off x="2799960" y="4976813"/>
            <a:ext cx="3045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13.7924 ± 5.0265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5997625" y="5434013"/>
            <a:ext cx="3297138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9" name="Text 37"/>
          <p:cNvSpPr/>
          <p:nvPr/>
        </p:nvSpPr>
        <p:spPr>
          <a:xfrm>
            <a:off x="6051110" y="4976813"/>
            <a:ext cx="32436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19.0560 ± 2.2041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952500" y="5443538"/>
            <a:ext cx="8341965" cy="614363"/>
          </a:xfrm>
          <a:prstGeom prst="rect">
            <a:avLst/>
          </a:prstGeom>
          <a:solidFill>
            <a:srgbClr val="9184D9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5595938"/>
            <a:ext cx="1525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2799960" y="5595938"/>
            <a:ext cx="30452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13.5540 ± 2.1089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6051110" y="5595938"/>
            <a:ext cx="305315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18.2175 ± 0.7553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9751665" y="1857375"/>
            <a:ext cx="78113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grid-search winner — [256, 256, 128], AdamW, lr 0.02, dropout 0.1, batch 32 — retrained under five seeds and averaged.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9751665" y="3333750"/>
            <a:ext cx="7583835" cy="1543050"/>
          </a:xfrm>
          <a:prstGeom prst="roundRect">
            <a:avLst>
              <a:gd name="adj" fmla="val 7407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037415" y="3581400"/>
            <a:ext cx="77135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18.2175 vs 19.1419 member mean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0037415" y="3962400"/>
            <a:ext cx="77135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5.3168 → 4.6635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0037415" y="4343400"/>
            <a:ext cx="77135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1.1681 → 0.7553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9751665" y="5067300"/>
            <a:ext cx="78113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42 turns out to have been lucky. Averaging buys stability, not a better headline number.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200150"/>
            <a:ext cx="14113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483197" y="914400"/>
            <a:ext cx="1280612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05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heterogeneous MLPs — Adam against AdamW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14525"/>
            <a:ext cx="1687449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Adam's best runs prefer weight decay near 0.001; AdamW's prefer 0.05–0.1. Two regularisation regimes reaching comparable validation error is free ambiguity — so the ensemble took the best five of each.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267075"/>
            <a:ext cx="5283101" cy="1800225"/>
          </a:xfrm>
          <a:prstGeom prst="roundRect">
            <a:avLst>
              <a:gd name="adj" fmla="val 8466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33500" y="3648075"/>
            <a:ext cx="49732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MEE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4038600"/>
            <a:ext cx="49732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9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11.6355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6502301" y="3267075"/>
            <a:ext cx="5283250" cy="1800225"/>
          </a:xfrm>
          <a:prstGeom prst="roundRect">
            <a:avLst>
              <a:gd name="adj" fmla="val 8466"/>
            </a:avLst>
          </a:prstGeom>
          <a:solidFill>
            <a:srgbClr val="1F2133"/>
          </a:soli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83301" y="3648075"/>
            <a:ext cx="4973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MEE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83301" y="4038600"/>
            <a:ext cx="497337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17.390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12052250" y="3267075"/>
            <a:ext cx="5283101" cy="1800225"/>
          </a:xfrm>
          <a:prstGeom prst="roundRect">
            <a:avLst>
              <a:gd name="adj" fmla="val 8466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433250" y="3648075"/>
            <a:ext cx="49732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33250" y="4038600"/>
            <a:ext cx="49732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5B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5.7545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952500" y="5448300"/>
            <a:ext cx="16383000" cy="1733550"/>
          </a:xfrm>
          <a:prstGeom prst="roundRect">
            <a:avLst>
              <a:gd name="adj" fmla="val 8791"/>
            </a:avLst>
          </a:prstGeom>
          <a:gradFill rotWithShape="1">
            <a:gsLst>
              <a:gs pos="0">
                <a:srgbClr val="1F2133">
                  <a:alpha val="100000"/>
                </a:srgbClr>
              </a:gs>
              <a:gs pos="100000">
                <a:srgbClr val="1C1E2C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90650" y="5829300"/>
            <a:ext cx="1599819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 is explicit: the gap did not shrink, but validation MEE broke below 18 for the first time. Heterogeneity across regularisation regimes buys accuracy; stage 1 bought stability. Neither buys both.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200150"/>
            <a:ext cx="14113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483197" y="914400"/>
            <a:ext cx="846942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105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meta-learner architecture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062609"/>
            <a:ext cx="7458075" cy="1181100"/>
          </a:xfrm>
          <a:prstGeom prst="roundRect">
            <a:avLst>
              <a:gd name="adj" fmla="val 11290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57300" y="2329309"/>
            <a:ext cx="75333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LEARNER · MLP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2681734"/>
            <a:ext cx="75333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[256, 256, 256] · adamw · gelu · 66 epochs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434209"/>
            <a:ext cx="7458075" cy="1181100"/>
          </a:xfrm>
          <a:prstGeom prst="roundRect">
            <a:avLst>
              <a:gd name="adj" fmla="val 11290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57300" y="3700909"/>
            <a:ext cx="75333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LEARNER · K-NN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4053334"/>
            <a:ext cx="75333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 · weights = distance · PCA = 6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805809"/>
            <a:ext cx="7458075" cy="1181100"/>
          </a:xfrm>
          <a:prstGeom prst="roundRect">
            <a:avLst>
              <a:gd name="adj" fmla="val 11290"/>
            </a:avLst>
          </a:prstGeom>
          <a:solidFill>
            <a:srgbClr val="1C1E2C"/>
          </a:solidFill>
          <a:ln/>
          <a:effectLst>
            <a:outerShdw sx="100000" sy="100000" kx="0" ky="0" algn="bl" rotWithShape="0" blurRad="101600" dist="50800" dir="16200000">
              <a:srgbClr val="2A2D3A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57300" y="5072509"/>
            <a:ext cx="75333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LEARNER · SVR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7300" y="5424934"/>
            <a:ext cx="75333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RBF · C = 3 · γ = 3 · PCA = 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989665" y="3429446"/>
            <a:ext cx="38487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918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8351341" y="4105721"/>
            <a:ext cx="158531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out-of-fold predictions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77425" y="1914525"/>
            <a:ext cx="7458075" cy="4220468"/>
          </a:xfrm>
          <a:prstGeom prst="roundRect">
            <a:avLst>
              <a:gd name="adj" fmla="val 3611"/>
            </a:avLst>
          </a:prstGeom>
          <a:solidFill>
            <a:srgbClr val="1F2133"/>
          </a:soli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77475" y="2295525"/>
            <a:ext cx="73237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5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META-LEARNER · RIDGECV, Α = 10.0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475" y="2743200"/>
            <a:ext cx="6657975" cy="122009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77475" y="4153793"/>
            <a:ext cx="685771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Generalised cross-validation selects α = 10.0. The curve is flat below α ≈ 100 and collapses above 10³, so the solution sits comfortably inside a stable region rather than balanced on an optimum.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52500" y="6515993"/>
            <a:ext cx="1571406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939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earlier winner was seed-dependent, the MLP member was chosen by re-running all ten configurations across five seeds and ranking on the mean, not the best.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assessment on held-out data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2433638"/>
            <a:ext cx="6099870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047875"/>
            <a:ext cx="609236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LEARNER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52370" y="2433638"/>
            <a:ext cx="2411164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6" name="Text 4"/>
          <p:cNvSpPr/>
          <p:nvPr/>
        </p:nvSpPr>
        <p:spPr>
          <a:xfrm>
            <a:off x="7166670" y="2047875"/>
            <a:ext cx="210636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MEE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63534" y="2433638"/>
            <a:ext cx="5461099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8" name="Text 6"/>
          <p:cNvSpPr/>
          <p:nvPr/>
        </p:nvSpPr>
        <p:spPr>
          <a:xfrm>
            <a:off x="9490201" y="2047875"/>
            <a:ext cx="524393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 MEE (OUT-OF-FOLD)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924633" y="2433638"/>
            <a:ext cx="2411164" cy="9525"/>
          </a:xfrm>
          <a:prstGeom prst="rect">
            <a:avLst/>
          </a:prstGeom>
          <a:solidFill>
            <a:srgbClr val="3F424D"/>
          </a:solidFill>
          <a:ln/>
        </p:spPr>
      </p:sp>
      <p:sp>
        <p:nvSpPr>
          <p:cNvPr id="10" name="Text 8"/>
          <p:cNvSpPr/>
          <p:nvPr/>
        </p:nvSpPr>
        <p:spPr>
          <a:xfrm>
            <a:off x="15038933" y="2047875"/>
            <a:ext cx="229686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80" kern="0" dirty="0">
                <a:solidFill>
                  <a:srgbClr val="757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MEE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148013"/>
            <a:ext cx="609987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2633663"/>
            <a:ext cx="6092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7052370" y="3148013"/>
            <a:ext cx="24111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4" name="Text 12"/>
          <p:cNvSpPr/>
          <p:nvPr/>
        </p:nvSpPr>
        <p:spPr>
          <a:xfrm>
            <a:off x="7166670" y="2633663"/>
            <a:ext cx="21063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11.8339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463534" y="3148013"/>
            <a:ext cx="5461099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6" name="Text 14"/>
          <p:cNvSpPr/>
          <p:nvPr/>
        </p:nvSpPr>
        <p:spPr>
          <a:xfrm>
            <a:off x="9490201" y="2633663"/>
            <a:ext cx="52439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18.9522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4924633" y="3148013"/>
            <a:ext cx="24111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18" name="Text 16"/>
          <p:cNvSpPr/>
          <p:nvPr/>
        </p:nvSpPr>
        <p:spPr>
          <a:xfrm>
            <a:off x="15038933" y="2633663"/>
            <a:ext cx="22968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17.8870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3862387"/>
            <a:ext cx="609987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3348038"/>
            <a:ext cx="6092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052370" y="3862387"/>
            <a:ext cx="24111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2" name="Text 20"/>
          <p:cNvSpPr/>
          <p:nvPr/>
        </p:nvSpPr>
        <p:spPr>
          <a:xfrm>
            <a:off x="7166670" y="3348038"/>
            <a:ext cx="21063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463534" y="3862387"/>
            <a:ext cx="5461099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4" name="Text 22"/>
          <p:cNvSpPr/>
          <p:nvPr/>
        </p:nvSpPr>
        <p:spPr>
          <a:xfrm>
            <a:off x="9490201" y="3348038"/>
            <a:ext cx="52439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15.1070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4924633" y="3862387"/>
            <a:ext cx="24111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6" name="Text 24"/>
          <p:cNvSpPr/>
          <p:nvPr/>
        </p:nvSpPr>
        <p:spPr>
          <a:xfrm>
            <a:off x="15038933" y="3348038"/>
            <a:ext cx="22968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14.1284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52500" y="4576763"/>
            <a:ext cx="6099870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4062412"/>
            <a:ext cx="6092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7052370" y="4576763"/>
            <a:ext cx="24111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0" name="Text 28"/>
          <p:cNvSpPr/>
          <p:nvPr/>
        </p:nvSpPr>
        <p:spPr>
          <a:xfrm>
            <a:off x="7166670" y="4062412"/>
            <a:ext cx="21063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8.0918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463534" y="4576763"/>
            <a:ext cx="5461099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2" name="Text 30"/>
          <p:cNvSpPr/>
          <p:nvPr/>
        </p:nvSpPr>
        <p:spPr>
          <a:xfrm>
            <a:off x="9490201" y="4062412"/>
            <a:ext cx="52439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15.5959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4924633" y="4576763"/>
            <a:ext cx="2411164" cy="9525"/>
          </a:xfrm>
          <a:prstGeom prst="rect">
            <a:avLst/>
          </a:prstGeom>
          <a:solidFill>
            <a:srgbClr val="23262F"/>
          </a:solidFill>
          <a:ln/>
        </p:spPr>
      </p:sp>
      <p:sp>
        <p:nvSpPr>
          <p:cNvPr id="34" name="Text 32"/>
          <p:cNvSpPr/>
          <p:nvPr/>
        </p:nvSpPr>
        <p:spPr>
          <a:xfrm>
            <a:off x="15038933" y="4062412"/>
            <a:ext cx="22968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15.7672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" y="4586288"/>
            <a:ext cx="16383000" cy="747713"/>
          </a:xfrm>
          <a:prstGeom prst="rect">
            <a:avLst/>
          </a:prstGeom>
          <a:solidFill>
            <a:srgbClr val="9184D9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4795838"/>
            <a:ext cx="59018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· RidgeCV α = 10.0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7166670" y="4795838"/>
            <a:ext cx="210636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5.9037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9490201" y="4795838"/>
            <a:ext cx="52439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14.3715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5038933" y="4795838"/>
            <a:ext cx="210636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14.3289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952500" y="5676900"/>
            <a:ext cx="163687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K-NN's zero training error is memorisation, not skill — which is exactly why it is useful in the stack: its error pattern is uncorrelated with the MLP's. The meta-learner beats every member on both validation and test, and validation-to-test drift is 0.0426, so the selection was not overfitted to the folds.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trajectory across the study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52500" y="2038350"/>
            <a:ext cx="4610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baseline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448300" y="1990725"/>
            <a:ext cx="9048304" cy="419100"/>
          </a:xfrm>
          <a:prstGeom prst="roundRect">
            <a:avLst>
              <a:gd name="adj" fmla="val 18182"/>
            </a:avLst>
          </a:prstGeom>
          <a:solidFill>
            <a:srgbClr val="3F424D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0" y="2024062"/>
            <a:ext cx="2095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26.1816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2667000"/>
            <a:ext cx="4610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Ridge, α = 100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448300" y="2619375"/>
            <a:ext cx="8835330" cy="419100"/>
          </a:xfrm>
          <a:prstGeom prst="roundRect">
            <a:avLst>
              <a:gd name="adj" fmla="val 18182"/>
            </a:avLst>
          </a:prstGeom>
          <a:solidFill>
            <a:srgbClr val="4A4D5C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0" y="2652713"/>
            <a:ext cx="2095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93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25.5736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3295650"/>
            <a:ext cx="4610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multi-seed MLP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448300" y="3248025"/>
            <a:ext cx="6299895" cy="419100"/>
          </a:xfrm>
          <a:prstGeom prst="roundRect">
            <a:avLst>
              <a:gd name="adj" fmla="val 18182"/>
            </a:avLst>
          </a:prstGeom>
          <a:solidFill>
            <a:srgbClr val="5D5294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0" y="3281363"/>
            <a:ext cx="2095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18.2175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" y="3876675"/>
            <a:ext cx="431673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2B6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10 heterogeneous MLPs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448300" y="3990975"/>
            <a:ext cx="6009531" cy="419100"/>
          </a:xfrm>
          <a:prstGeom prst="roundRect">
            <a:avLst>
              <a:gd name="adj" fmla="val 18182"/>
            </a:avLst>
          </a:prstGeom>
          <a:solidFill>
            <a:srgbClr val="796CBF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0" y="4024313"/>
            <a:ext cx="2095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B2B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17.3900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2500" y="4781550"/>
            <a:ext cx="4610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stacking, out-of-fold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5448300" y="4733925"/>
            <a:ext cx="4964460" cy="419100"/>
          </a:xfrm>
          <a:prstGeom prst="roundRect">
            <a:avLst>
              <a:gd name="adj" fmla="val 18182"/>
            </a:avLst>
          </a:prstGeom>
          <a:solidFill>
            <a:srgbClr val="9184D9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0" y="4767263"/>
            <a:ext cx="2095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14.3715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2500" y="5410200"/>
            <a:ext cx="4610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held-out test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5448300" y="5362575"/>
            <a:ext cx="4954786" cy="419100"/>
          </a:xfrm>
          <a:prstGeom prst="roundRect">
            <a:avLst>
              <a:gd name="adj" fmla="val 18182"/>
            </a:avLst>
          </a:prstGeom>
          <a:solidFill>
            <a:srgbClr val="56C99A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0" y="5395913"/>
            <a:ext cx="2095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14.3289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spc="-11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takeaways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952500" y="1990725"/>
            <a:ext cx="8039100" cy="3019425"/>
          </a:xfrm>
          <a:prstGeom prst="roundRect">
            <a:avLst>
              <a:gd name="adj" fmla="val 5047"/>
            </a:avLst>
          </a:prstGeom>
          <a:gradFill rotWithShape="1">
            <a:gsLst>
              <a:gs pos="0">
                <a:srgbClr val="1F2133">
                  <a:alpha val="100000"/>
                </a:srgbClr>
              </a:gs>
              <a:gs pos="100000">
                <a:srgbClr val="1C1E2C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0650" y="2409825"/>
            <a:ext cx="7879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9A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 IS NOT ALWAYS THE CONSTRAINT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90650" y="2838450"/>
            <a:ext cx="7377684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MONK-3 caps four different model families at the same 97.22%. When capacity stops mattering, the bottleneck has moved to the data — and more architecture search is wasted budget.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9296400" y="1990725"/>
            <a:ext cx="8039100" cy="3019425"/>
          </a:xfrm>
          <a:prstGeom prst="roundRect">
            <a:avLst>
              <a:gd name="adj" fmla="val 5047"/>
            </a:avLst>
          </a:prstGeom>
          <a:gradFill rotWithShape="1">
            <a:gsLst>
              <a:gs pos="0">
                <a:srgbClr val="1F2133">
                  <a:alpha val="100000"/>
                </a:srgbClr>
              </a:gs>
              <a:gs pos="100000">
                <a:srgbClr val="1C1E2C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34550" y="2409825"/>
            <a:ext cx="7879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9A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 FEATURES BEAT DESIGNED ONES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34550" y="2838450"/>
            <a:ext cx="7377684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two-unit network solves MONK-2 where a degree-3 kernel reaches 85.65%. Fixed feature maps lose to adaptive representations when the required transform is unknown.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952500" y="5314950"/>
            <a:ext cx="8039100" cy="3457575"/>
          </a:xfrm>
          <a:prstGeom prst="roundRect">
            <a:avLst>
              <a:gd name="adj" fmla="val 4408"/>
            </a:avLst>
          </a:prstGeom>
          <a:gradFill rotWithShape="1">
            <a:gsLst>
              <a:gs pos="0">
                <a:srgbClr val="1F2133">
                  <a:alpha val="100000"/>
                </a:srgbClr>
              </a:gs>
              <a:gs pos="100000">
                <a:srgbClr val="1C1E2C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90650" y="5734050"/>
            <a:ext cx="7879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9A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STAGE MOVED A DIFFERENT QUANTITY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0650" y="6162675"/>
            <a:ext cx="7377684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seeds cut variance without improving the headline; averaging optimisers improved the headline without closing the gap; stacking across families did both, because the meta-learner weights members by where they are reliable.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296400" y="5314950"/>
            <a:ext cx="8039100" cy="3457575"/>
          </a:xfrm>
          <a:prstGeom prst="roundRect">
            <a:avLst>
              <a:gd name="adj" fmla="val 4408"/>
            </a:avLst>
          </a:prstGeom>
          <a:gradFill rotWithShape="1">
            <a:gsLst>
              <a:gs pos="0">
                <a:srgbClr val="1F2133">
                  <a:alpha val="100000"/>
                </a:srgbClr>
              </a:gs>
              <a:gs pos="100000">
                <a:srgbClr val="1C1E2C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101600" dist="50800" dir="16200000">
              <a:srgbClr val="3A3550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34550" y="5734050"/>
            <a:ext cx="7879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D9A5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TRADE-OFF IS REAL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34550" y="6162675"/>
            <a:ext cx="7377684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325" dirty="0">
                <a:solidFill>
                  <a:srgbClr val="D7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model costs three pipelines plus a meta-fit for a 17.5% improvement over its best member. Worth it when scored on generalisation; for a latency-bound deployment, K-NN alone at 14.1284 is the honest first choice.</a:t>
            </a:r>
            <a:endParaRPr lang="en-US" sz="23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2026-08-06T12:49:59Z</dcterms:created>
  <dcterms:modified xsi:type="dcterms:W3CDTF">2026-08-06T12:49:59Z</dcterms:modified>
</cp:coreProperties>
</file>
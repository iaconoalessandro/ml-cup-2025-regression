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1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F1232-DEE5-4F55-AD23-BB96C093E93D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EA5A9-8E51-4BBA-8F80-1C9B71BFD5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4762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EA5A9-8E51-4BBA-8F80-1C9B71BFD5D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307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7C0F7-EA48-C918-F2A0-6364F500B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32F72AE-ED2E-27D7-6D45-B7FB2951B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1F443F-C59F-726F-56B5-F424939F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00C0D-F9D9-375D-4C32-6F08AE9E1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7111EF-D270-4396-B597-2FD7D7B8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85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350FF7-86FC-B568-502C-B1BB0EBB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A950E2-FCB1-3C5B-0B04-E10C950BC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91096E-EBC6-C0F4-5680-71C04B1B3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E2E3F6-6D09-D89D-7D63-9D574EA6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7681BF-D413-66FA-DE8C-E64B094A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897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93E2F-8C3C-75A0-B309-13143799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681026-5B8C-EDD1-EB0F-BBB5C75C6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2AE973-7CE0-83B8-3368-C9C0C6A35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7C89D9-0681-1112-011E-EA3BDAC2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7B6AAB-16EC-6D6E-8C33-27CCAD6A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559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55B8F0-836D-C700-A202-FCAF7EBC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02026D-BE27-6CD1-D35E-396664D41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250AB5-0EEE-64CA-A283-DB73A8C4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56C7C33-A605-D8A1-F60C-B48B2E33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FF1AC1-AF8E-B460-25B6-881BA25D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04ECA0-63AE-90CF-A8A2-D5A38AC9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72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C707CA-5010-CD91-9F33-3997F6F9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E09D0E-3D97-1A25-E776-688503C11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85AE9D-554E-A0AE-FAF8-7C12F7971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B5414A-3508-0942-672B-7C1DFFE6E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B8EB91B-ADD9-2ECF-15E5-0207E1842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C274AF5-F486-8C51-6F25-3BA991E5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D9428DB-08D7-C99D-9C5C-4CDDDE79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0CACC2B-B24A-12D0-07B5-64E4C51A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846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B3B282-35CF-A355-8964-AA5591FA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C1AB0C-DA09-D8CA-F38B-3F782C26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688A9D7-9F37-CC1C-DBE3-4B0E4E51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D639CE8-55B2-F3A2-5972-2D841C53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13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65A59B-0F2D-1E9F-1307-191D800B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C99163F-AB77-F8D2-75B0-233D0C4A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08A361-51CA-0941-A339-4AF401B7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730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5C4602-663D-C003-E5FB-2B8649C6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B06C2A-F5DB-1B84-298F-C4B39D36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3BF0677-5A69-E623-4F5D-0F35A07E1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D62787-F838-5812-43A4-40C9D8E3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B194BC2-8AF0-5D62-7A1E-9F1290EE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34B1B36-A813-BD20-62F5-E6D052FF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15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1C44A-9FF9-D897-7F68-82597DEB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8FD214F-82A2-D2E0-23AD-BF177D700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7C17DE-2186-983B-0327-6FB97121B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C813CB-45FC-57C1-3F6F-AD132B88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9115A1-20CC-D6D1-7F40-903908DB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8F72309-F938-02A5-7FE1-ACF6DCE7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983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0FB6B8-8504-72E8-D401-8143F2319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DFF22AB-3354-7CC3-D2A4-FCB93E51D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41A358-227A-81A6-ED09-DABC8764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19CE4-D450-31BF-5934-59BFBDF7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BA3C30-EF91-DBD2-29C0-B13444F5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593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FCA4EF8-E995-6175-8124-5D19AD77E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E289F7-80D9-F12E-81AA-E0AB295B3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73F0F3-7865-39DC-04AC-E8811B75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F70501-D4B6-0D00-8FD6-009AAAA3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A2D6A0-E2F5-1966-5D57-0E6D9B5A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28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2594F53-23C1-EB17-3C4F-98B590C4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11A02B-DD02-AD41-D764-F252BE43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CCAE9F-D765-1F37-C88F-3C5FA83FB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E069B9-4E7F-4356-924B-778DBB4D8ED1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38F5C0-8922-96AE-8A7C-1E09FC28B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8DDB04-6965-11CB-6A80-6173D2993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9CD0A-A18F-4F5D-855A-CF1DABD267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123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iacono8@studenti.unipi.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EFE51D-9A41-25CD-F4F6-2723CF600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5551"/>
            <a:ext cx="9144000" cy="1158649"/>
          </a:xfrm>
        </p:spPr>
        <p:txBody>
          <a:bodyPr/>
          <a:lstStyle/>
          <a:p>
            <a:r>
              <a:rPr lang="it-IT" b="1" dirty="0"/>
              <a:t>ML Project 25/26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B86963-224D-4FD1-CB80-05B5CD556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0750"/>
            <a:ext cx="9144000" cy="3748788"/>
          </a:xfrm>
        </p:spPr>
        <p:txBody>
          <a:bodyPr>
            <a:normAutofit fontScale="92500" lnSpcReduction="10000"/>
          </a:bodyPr>
          <a:lstStyle/>
          <a:p>
            <a:r>
              <a:rPr lang="it-IT" dirty="0" err="1"/>
              <a:t>Authors</a:t>
            </a:r>
            <a:r>
              <a:rPr lang="it-IT" dirty="0"/>
              <a:t> : Francesco Bernardini, Alessandro Iacono</a:t>
            </a:r>
          </a:p>
          <a:p>
            <a:endParaRPr lang="it-IT" dirty="0"/>
          </a:p>
          <a:p>
            <a:r>
              <a:rPr lang="it-IT" dirty="0"/>
              <a:t>Computer Science (AI), Data Science</a:t>
            </a:r>
          </a:p>
          <a:p>
            <a:r>
              <a:rPr lang="it-IT" dirty="0"/>
              <a:t>f.bernardini22@studenti .unipi.it , </a:t>
            </a:r>
            <a:r>
              <a:rPr lang="it-IT" dirty="0">
                <a:hlinkClick r:id="rId2"/>
              </a:rPr>
              <a:t>a.iacono8@studenti.unipi.it</a:t>
            </a:r>
            <a:endParaRPr lang="it-IT" dirty="0"/>
          </a:p>
          <a:p>
            <a:endParaRPr lang="it-IT" dirty="0"/>
          </a:p>
          <a:p>
            <a:r>
              <a:rPr lang="it-IT" dirty="0"/>
              <a:t>Team Name : </a:t>
            </a:r>
            <a:r>
              <a:rPr lang="it-IT" dirty="0" err="1"/>
              <a:t>EnSIUMble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Date 15/05/2026</a:t>
            </a:r>
          </a:p>
          <a:p>
            <a:r>
              <a:rPr lang="it-IT" dirty="0" err="1"/>
              <a:t>Type</a:t>
            </a:r>
            <a:r>
              <a:rPr lang="it-IT" dirty="0"/>
              <a:t> of Project : </a:t>
            </a:r>
            <a:r>
              <a:rPr lang="it-IT" b="1" dirty="0"/>
              <a:t>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05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828934-EDDF-A696-1AC8-CDD822EF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39280"/>
          </a:xfrm>
        </p:spPr>
        <p:txBody>
          <a:bodyPr>
            <a:normAutofit/>
          </a:bodyPr>
          <a:lstStyle/>
          <a:p>
            <a:r>
              <a:rPr lang="it-IT" sz="4000" b="1" dirty="0" err="1"/>
              <a:t>Objectives</a:t>
            </a:r>
            <a:r>
              <a:rPr lang="it-IT" sz="4000" b="1" dirty="0"/>
              <a:t> of </a:t>
            </a:r>
            <a:r>
              <a:rPr lang="it-IT" sz="4000" b="1" dirty="0" err="1"/>
              <a:t>our</a:t>
            </a:r>
            <a:r>
              <a:rPr lang="it-IT" sz="4000" b="1" dirty="0"/>
              <a:t>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3A53A2-7651-CB63-A983-6F208DB83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9404"/>
            <a:ext cx="12192000" cy="5658902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/>
              <a:t>Our goal for this project was to be able to have a practical vision of the topics covered in class</a:t>
            </a:r>
          </a:p>
          <a:p>
            <a:r>
              <a:rPr lang="en-US" sz="1500" dirty="0"/>
              <a:t>To do that we decided to test most of the ML models covered during the course and see their various behaviors for the various algorithms : </a:t>
            </a:r>
          </a:p>
          <a:p>
            <a:endParaRPr lang="en-US" sz="1500" dirty="0"/>
          </a:p>
          <a:p>
            <a:r>
              <a:rPr lang="en-US" sz="1500" dirty="0"/>
              <a:t>Algorithms tested for each dataset :</a:t>
            </a:r>
          </a:p>
          <a:p>
            <a:pPr lvl="1"/>
            <a:r>
              <a:rPr lang="en-US" sz="1500" b="1" dirty="0"/>
              <a:t>Linear Regression / Logistic Regression</a:t>
            </a:r>
          </a:p>
          <a:p>
            <a:pPr lvl="1"/>
            <a:r>
              <a:rPr lang="en-US" sz="1500" b="1" dirty="0"/>
              <a:t>Linear + Lasso (L1)</a:t>
            </a:r>
          </a:p>
          <a:p>
            <a:pPr lvl="1"/>
            <a:r>
              <a:rPr lang="en-US" sz="1500" b="1" dirty="0"/>
              <a:t>Linear + Ridge (L2)</a:t>
            </a:r>
          </a:p>
          <a:p>
            <a:pPr lvl="1"/>
            <a:r>
              <a:rPr lang="en-US" sz="1500" b="1" dirty="0"/>
              <a:t>K-NN</a:t>
            </a:r>
          </a:p>
          <a:p>
            <a:pPr lvl="1"/>
            <a:r>
              <a:rPr lang="en-US" sz="1500" b="1" dirty="0"/>
              <a:t>SVM</a:t>
            </a:r>
          </a:p>
          <a:p>
            <a:pPr lvl="1"/>
            <a:r>
              <a:rPr lang="en-US" sz="1500" b="1" dirty="0"/>
              <a:t>Neural Networks (MLP)</a:t>
            </a:r>
          </a:p>
          <a:p>
            <a:pPr marL="457200" lvl="1" indent="0">
              <a:buNone/>
            </a:pPr>
            <a:endParaRPr lang="en-US" sz="1500" dirty="0"/>
          </a:p>
          <a:p>
            <a:endParaRPr lang="it-IT" sz="1500" dirty="0"/>
          </a:p>
          <a:p>
            <a:r>
              <a:rPr lang="it-IT" sz="1500" dirty="0"/>
              <a:t>For </a:t>
            </a:r>
            <a:r>
              <a:rPr lang="it-IT" sz="1500" dirty="0" err="1"/>
              <a:t>all</a:t>
            </a:r>
            <a:r>
              <a:rPr lang="it-IT" sz="1500" dirty="0"/>
              <a:t> the project the </a:t>
            </a:r>
            <a:r>
              <a:rPr lang="it-IT" sz="1500" dirty="0" err="1"/>
              <a:t>results</a:t>
            </a:r>
            <a:r>
              <a:rPr lang="it-IT" sz="1500" dirty="0"/>
              <a:t> of </a:t>
            </a:r>
            <a:r>
              <a:rPr lang="it-IT" sz="1500" dirty="0" err="1"/>
              <a:t>each</a:t>
            </a:r>
            <a:r>
              <a:rPr lang="it-IT" sz="1500" dirty="0"/>
              <a:t> </a:t>
            </a:r>
            <a:r>
              <a:rPr lang="it-IT" sz="1500" dirty="0" err="1"/>
              <a:t>gridsearch</a:t>
            </a:r>
            <a:r>
              <a:rPr lang="it-IT" sz="1500" dirty="0"/>
              <a:t> are </a:t>
            </a:r>
            <a:r>
              <a:rPr lang="it-IT" sz="1500" dirty="0" err="1"/>
              <a:t>based</a:t>
            </a:r>
            <a:r>
              <a:rPr lang="it-IT" sz="1500" dirty="0"/>
              <a:t> on a 5-Fold Cross </a:t>
            </a:r>
            <a:r>
              <a:rPr lang="it-IT" sz="1500" dirty="0" err="1"/>
              <a:t>Validation</a:t>
            </a:r>
            <a:endParaRPr lang="it-IT" sz="1500" dirty="0"/>
          </a:p>
          <a:p>
            <a:r>
              <a:rPr lang="it-IT" sz="1500" dirty="0" err="1"/>
              <a:t>We</a:t>
            </a:r>
            <a:r>
              <a:rPr lang="it-IT" sz="1500" dirty="0"/>
              <a:t> </a:t>
            </a:r>
            <a:r>
              <a:rPr lang="it-IT" sz="1500" dirty="0" err="1"/>
              <a:t>fixed</a:t>
            </a:r>
            <a:r>
              <a:rPr lang="it-IT" sz="1500" dirty="0"/>
              <a:t> for </a:t>
            </a:r>
            <a:r>
              <a:rPr lang="it-IT" sz="1500" dirty="0" err="1"/>
              <a:t>every</a:t>
            </a:r>
            <a:r>
              <a:rPr lang="it-IT" sz="1500" dirty="0"/>
              <a:t> datasets the </a:t>
            </a:r>
            <a:r>
              <a:rPr lang="it-IT" sz="1500" dirty="0" err="1"/>
              <a:t>seed</a:t>
            </a:r>
            <a:r>
              <a:rPr lang="it-IT" sz="1500" dirty="0"/>
              <a:t> 42, </a:t>
            </a:r>
            <a:r>
              <a:rPr lang="en-US" sz="1500" dirty="0"/>
              <a:t>to ensure the reproducibility of the results</a:t>
            </a:r>
          </a:p>
          <a:p>
            <a:r>
              <a:rPr lang="en-US" sz="1500" dirty="0"/>
              <a:t>For each activation functions we used the weights initialization suggested by the bibliography [1] [2] </a:t>
            </a:r>
          </a:p>
          <a:p>
            <a:endParaRPr lang="it-IT" sz="1500" dirty="0"/>
          </a:p>
          <a:p>
            <a:r>
              <a:rPr lang="it-IT" sz="1500" b="1" dirty="0" err="1"/>
              <a:t>Implementation</a:t>
            </a:r>
            <a:r>
              <a:rPr lang="it-IT" sz="1500" b="1" dirty="0"/>
              <a:t> note :  </a:t>
            </a:r>
            <a:r>
              <a:rPr lang="en-US" sz="1500" dirty="0"/>
              <a:t>At the coding level we have taken advantage of LLMs</a:t>
            </a:r>
          </a:p>
          <a:p>
            <a:r>
              <a:rPr lang="en-US" sz="1500" dirty="0"/>
              <a:t>For the implementation we used the following libraries :</a:t>
            </a:r>
          </a:p>
          <a:p>
            <a:pPr lvl="1"/>
            <a:r>
              <a:rPr lang="en-US" sz="1500" b="1" dirty="0"/>
              <a:t>Scikit-Learn </a:t>
            </a:r>
            <a:r>
              <a:rPr lang="en-US" sz="1500" dirty="0"/>
              <a:t>[3]</a:t>
            </a:r>
            <a:r>
              <a:rPr lang="en-US" sz="1500" b="1" dirty="0"/>
              <a:t>: </a:t>
            </a:r>
            <a:r>
              <a:rPr lang="en-US" sz="1500" dirty="0"/>
              <a:t>For all models except Neural Networks</a:t>
            </a:r>
          </a:p>
          <a:p>
            <a:pPr lvl="1"/>
            <a:r>
              <a:rPr lang="en-US" sz="1500" b="1" dirty="0" err="1"/>
              <a:t>PyTorch</a:t>
            </a:r>
            <a:r>
              <a:rPr lang="en-US" sz="1500" b="1" dirty="0"/>
              <a:t> </a:t>
            </a:r>
            <a:r>
              <a:rPr lang="en-US" sz="1500" dirty="0"/>
              <a:t>[4]</a:t>
            </a:r>
            <a:r>
              <a:rPr lang="en-US" sz="1500" b="1" dirty="0"/>
              <a:t>:</a:t>
            </a:r>
            <a:r>
              <a:rPr lang="en-US" sz="1500" dirty="0"/>
              <a:t> For Neural Network’s Implementation</a:t>
            </a:r>
            <a:endParaRPr lang="en-US" sz="1500" b="1" dirty="0"/>
          </a:p>
          <a:p>
            <a:endParaRPr lang="en-US" sz="1500" dirty="0"/>
          </a:p>
          <a:p>
            <a:r>
              <a:rPr lang="en-US" sz="1500" dirty="0"/>
              <a:t>We’ll leave in the same folder both the </a:t>
            </a:r>
            <a:r>
              <a:rPr lang="en-US" sz="1500" dirty="0" err="1"/>
              <a:t>Jupyter</a:t>
            </a:r>
            <a:r>
              <a:rPr lang="en-US" sz="1500" dirty="0"/>
              <a:t> Notebook files “</a:t>
            </a:r>
            <a:r>
              <a:rPr lang="en-US" sz="1500" b="1" dirty="0" err="1"/>
              <a:t>Monks_Summary.ipynb</a:t>
            </a:r>
            <a:r>
              <a:rPr lang="en-US" sz="1500" dirty="0"/>
              <a:t>” and “</a:t>
            </a:r>
            <a:r>
              <a:rPr lang="en-US" sz="1500" b="1" dirty="0" err="1"/>
              <a:t>Cup_Summary.ipynb</a:t>
            </a:r>
            <a:r>
              <a:rPr lang="en-US" sz="1500" dirty="0"/>
              <a:t>”</a:t>
            </a:r>
          </a:p>
          <a:p>
            <a:pPr marL="457200" lvl="1" indent="0">
              <a:buNone/>
            </a:pPr>
            <a:endParaRPr lang="en-US" sz="1500" b="1" dirty="0"/>
          </a:p>
          <a:p>
            <a:endParaRPr lang="it-IT" sz="1400" b="1" dirty="0"/>
          </a:p>
          <a:p>
            <a:endParaRPr lang="it-IT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59A196E-E4C0-3A2B-A213-0FDBD2D8624A}"/>
              </a:ext>
            </a:extLst>
          </p:cNvPr>
          <p:cNvSpPr txBox="1"/>
          <p:nvPr/>
        </p:nvSpPr>
        <p:spPr>
          <a:xfrm>
            <a:off x="11786963" y="0"/>
            <a:ext cx="447995" cy="371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911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40BDA0-5892-6AC4-EC58-6754DBCF5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61"/>
            <a:ext cx="10515600" cy="715530"/>
          </a:xfrm>
        </p:spPr>
        <p:txBody>
          <a:bodyPr>
            <a:normAutofit/>
          </a:bodyPr>
          <a:lstStyle/>
          <a:p>
            <a:r>
              <a:rPr lang="it-IT" sz="4000" b="1" dirty="0" err="1"/>
              <a:t>MONKs</a:t>
            </a:r>
            <a:r>
              <a:rPr lang="it-IT" sz="4000" b="1" dirty="0"/>
              <a:t>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C14E0F-4FFE-BD1F-A96D-4B75B5421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87" y="1040769"/>
            <a:ext cx="11831425" cy="5096307"/>
          </a:xfrm>
        </p:spPr>
        <p:txBody>
          <a:bodyPr>
            <a:normAutofit/>
          </a:bodyPr>
          <a:lstStyle/>
          <a:p>
            <a:r>
              <a:rPr lang="en-US" sz="1600" dirty="0"/>
              <a:t>Regarding the MONKs dataset, we decided to exploit its simplicity to be able to work more on the analysis of the results.</a:t>
            </a:r>
          </a:p>
          <a:p>
            <a:r>
              <a:rPr lang="en-US" sz="1600" dirty="0"/>
              <a:t>Since our objective is one of analysis rather than optimization, for each model a rigorous model selection was performed on the results of the Validation Set, but there is no general Model Selection among all the Models.</a:t>
            </a:r>
          </a:p>
          <a:p>
            <a:r>
              <a:rPr lang="en-US" sz="1600" dirty="0"/>
              <a:t>The results shown will be the results on the Test Set of the best (higher Accuracy) hyperparameter configuration based on the Validation Set</a:t>
            </a:r>
          </a:p>
          <a:p>
            <a:endParaRPr lang="it-IT" sz="1600" dirty="0"/>
          </a:p>
          <a:p>
            <a:r>
              <a:rPr lang="it-IT" sz="1600" b="1" dirty="0"/>
              <a:t>Pre-processing :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performed</a:t>
            </a:r>
            <a:r>
              <a:rPr lang="it-IT" sz="1600" dirty="0"/>
              <a:t> an </a:t>
            </a:r>
            <a:r>
              <a:rPr lang="it-IT" sz="1600" b="1" dirty="0"/>
              <a:t>One-Hot </a:t>
            </a:r>
            <a:r>
              <a:rPr lang="it-IT" sz="1600" b="1" dirty="0" err="1"/>
              <a:t>Encoding</a:t>
            </a:r>
            <a:r>
              <a:rPr lang="it-IT" sz="1600" dirty="0"/>
              <a:t> on Training Set </a:t>
            </a:r>
            <a:r>
              <a:rPr lang="it-IT" sz="1600" dirty="0" err="1"/>
              <a:t>only</a:t>
            </a:r>
            <a:endParaRPr lang="it-IT" sz="1600" dirty="0"/>
          </a:p>
          <a:p>
            <a:pPr lvl="1"/>
            <a:r>
              <a:rPr lang="it-IT" sz="1600" dirty="0"/>
              <a:t>6 </a:t>
            </a:r>
            <a:r>
              <a:rPr lang="it-IT" sz="1600" dirty="0" err="1"/>
              <a:t>categorical</a:t>
            </a:r>
            <a:r>
              <a:rPr lang="it-IT" sz="1600" dirty="0"/>
              <a:t> features </a:t>
            </a:r>
            <a:r>
              <a:rPr lang="it-IT" sz="1600" dirty="0">
                <a:sym typeface="Wingdings" panose="05000000000000000000" pitchFamily="2" charset="2"/>
              </a:rPr>
              <a:t> 17 </a:t>
            </a:r>
            <a:r>
              <a:rPr lang="it-IT" sz="1600" dirty="0" err="1">
                <a:sym typeface="Wingdings" panose="05000000000000000000" pitchFamily="2" charset="2"/>
              </a:rPr>
              <a:t>binary</a:t>
            </a:r>
            <a:r>
              <a:rPr lang="it-IT" sz="1600" dirty="0">
                <a:sym typeface="Wingdings" panose="05000000000000000000" pitchFamily="2" charset="2"/>
              </a:rPr>
              <a:t> features after One-Hot </a:t>
            </a:r>
            <a:r>
              <a:rPr lang="it-IT" sz="1600" dirty="0" err="1">
                <a:sym typeface="Wingdings" panose="05000000000000000000" pitchFamily="2" charset="2"/>
              </a:rPr>
              <a:t>Encoding</a:t>
            </a:r>
            <a:endParaRPr lang="it-IT" sz="1600" dirty="0"/>
          </a:p>
          <a:p>
            <a:endParaRPr lang="it-IT" sz="1600" b="1" dirty="0"/>
          </a:p>
          <a:p>
            <a:endParaRPr lang="it-IT" sz="1600" b="1" dirty="0"/>
          </a:p>
          <a:p>
            <a:r>
              <a:rPr lang="it-IT" sz="1600" b="1" dirty="0"/>
              <a:t>REPETITA : </a:t>
            </a:r>
            <a:r>
              <a:rPr lang="en-US" sz="1600" dirty="0"/>
              <a:t>The study on the MONKs dataset aims to understand the behavior of the various models and their differences, not to choose the best model.</a:t>
            </a:r>
          </a:p>
          <a:p>
            <a:endParaRPr lang="en-US" sz="1600" b="1" dirty="0"/>
          </a:p>
          <a:p>
            <a:r>
              <a:rPr lang="en-US" sz="1600" dirty="0"/>
              <a:t>Since the Monks dataset is a classification problem, we chose to use </a:t>
            </a:r>
            <a:r>
              <a:rPr lang="en-US" sz="1600" b="1" i="1" dirty="0"/>
              <a:t>Binary Cross-Entropy </a:t>
            </a:r>
            <a:r>
              <a:rPr lang="en-US" sz="1600" dirty="0"/>
              <a:t>as the loss function for the Neural Network, combined with the use of the </a:t>
            </a:r>
            <a:r>
              <a:rPr lang="en-US" sz="1600" b="1" i="1" dirty="0"/>
              <a:t>Sigmoid</a:t>
            </a:r>
            <a:r>
              <a:rPr lang="en-US" sz="1600" dirty="0"/>
              <a:t> function as the activation function of the output layer of the Neural Networks [5].</a:t>
            </a:r>
          </a:p>
          <a:p>
            <a:endParaRPr lang="en-US" sz="1600" b="1" dirty="0"/>
          </a:p>
          <a:p>
            <a:pPr marL="0" indent="0">
              <a:buNone/>
            </a:pPr>
            <a:endParaRPr lang="it-IT" sz="2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C678831-0661-6073-F2CF-BF5182AB7C54}"/>
              </a:ext>
            </a:extLst>
          </p:cNvPr>
          <p:cNvSpPr txBox="1"/>
          <p:nvPr/>
        </p:nvSpPr>
        <p:spPr>
          <a:xfrm>
            <a:off x="11731732" y="1224"/>
            <a:ext cx="45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09868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9DF720-D738-F016-E3E7-D43F1A3C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91779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MONKs</a:t>
            </a:r>
            <a:r>
              <a:rPr lang="it-IT" b="1" dirty="0"/>
              <a:t> - Linear Models (I)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CD99D7-84AE-82CC-4251-67AF5CDC6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09" y="691779"/>
            <a:ext cx="10515600" cy="839420"/>
          </a:xfrm>
        </p:spPr>
        <p:txBody>
          <a:bodyPr>
            <a:normAutofit/>
          </a:bodyPr>
          <a:lstStyle/>
          <a:p>
            <a:r>
              <a:rPr lang="en-US" sz="1400" dirty="0"/>
              <a:t>The application of linear models represents an excellent starting point for our analysis :</a:t>
            </a:r>
          </a:p>
          <a:p>
            <a:pPr lvl="1"/>
            <a:r>
              <a:rPr lang="en-US" sz="1400" dirty="0"/>
              <a:t>It allows us to establish whether the datasets are linearly separable or whether we need to introduce non-linearity</a:t>
            </a:r>
          </a:p>
          <a:p>
            <a:pPr lvl="1"/>
            <a:r>
              <a:rPr lang="it-IT" sz="1400" dirty="0" err="1"/>
              <a:t>Provides</a:t>
            </a:r>
            <a:r>
              <a:rPr lang="it-IT" sz="1400" dirty="0"/>
              <a:t> a baseline for </a:t>
            </a:r>
            <a:r>
              <a:rPr lang="it-IT" sz="1400" dirty="0" err="1"/>
              <a:t>subsequent</a:t>
            </a:r>
            <a:r>
              <a:rPr lang="it-IT" sz="1400" dirty="0"/>
              <a:t> models </a:t>
            </a:r>
          </a:p>
          <a:p>
            <a:pPr marL="457200" lvl="1" indent="0">
              <a:buNone/>
            </a:pPr>
            <a:endParaRPr lang="en-US" sz="1600" dirty="0"/>
          </a:p>
          <a:p>
            <a:endParaRPr lang="it-IT" sz="1800" b="1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88E5976-1D97-A312-5FFF-5F7E9106C581}"/>
              </a:ext>
            </a:extLst>
          </p:cNvPr>
          <p:cNvSpPr txBox="1"/>
          <p:nvPr/>
        </p:nvSpPr>
        <p:spPr>
          <a:xfrm>
            <a:off x="99679" y="2690492"/>
            <a:ext cx="656105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most interesting results come from </a:t>
            </a:r>
            <a:r>
              <a:rPr lang="en-US" sz="1400" b="1" dirty="0"/>
              <a:t>MONK-1</a:t>
            </a:r>
            <a:r>
              <a:rPr lang="en-US" sz="1400" dirty="0"/>
              <a:t> and </a:t>
            </a:r>
            <a:r>
              <a:rPr lang="en-US" sz="1400" b="1" dirty="0"/>
              <a:t>MONK-2</a:t>
            </a:r>
            <a:r>
              <a:rPr lang="en-US" sz="1400" dirty="0"/>
              <a:t> 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MONK-1 : </a:t>
            </a:r>
            <a:r>
              <a:rPr lang="en-US" sz="1400" dirty="0"/>
              <a:t>The model achieved decent performance by choosing a very strong L1 regularization (C=0.1).  The choice of the L1 penalty indicates the model tried to “turn off” many variables, isolating only a few key predictors.  The Confusion Matrix shows that the model is perfectly accurate on one class, but frequently misclassifies the other (false negative)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MONK-2: </a:t>
            </a:r>
            <a:r>
              <a:rPr lang="en-US" sz="1400" dirty="0"/>
              <a:t>In this case the model selected an even harder regularization (L2 with C=0.01). Unlike L1, L2 does not zero out coefficients but shrinks all weights uniformly toward zero, flattening the decision function. As a result, the prediction is dominated by the bias term, which converges to the majority class. The Confusion Matrix confirms this: the model degenerates into a majority-class classifier, predicting 0 for every instance.</a:t>
            </a:r>
            <a:endParaRPr lang="en-US" sz="1400" b="1" dirty="0"/>
          </a:p>
          <a:p>
            <a:pPr lvl="1"/>
            <a:r>
              <a:rPr lang="en-US" sz="1400" dirty="0"/>
              <a:t>Both results suggest that the relationship in the data is not linearly separable.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1A1FF01-829B-5309-357C-A2F13EAAD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792" y="1612624"/>
            <a:ext cx="5081833" cy="1077494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46856ED-AD60-0B98-6A85-893080ACE6B9}"/>
              </a:ext>
            </a:extLst>
          </p:cNvPr>
          <p:cNvSpPr txBox="1"/>
          <p:nvPr/>
        </p:nvSpPr>
        <p:spPr>
          <a:xfrm>
            <a:off x="261257" y="6166221"/>
            <a:ext cx="6561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MONK-3 : </a:t>
            </a:r>
            <a:r>
              <a:rPr lang="it-IT" sz="1400" dirty="0" err="1"/>
              <a:t>Reached</a:t>
            </a:r>
            <a:r>
              <a:rPr lang="it-IT" sz="1400" dirty="0"/>
              <a:t> </a:t>
            </a:r>
            <a:r>
              <a:rPr lang="it-IT" sz="1400" dirty="0" err="1"/>
              <a:t>instead</a:t>
            </a:r>
            <a:r>
              <a:rPr lang="it-IT" sz="1400" dirty="0"/>
              <a:t> a </a:t>
            </a:r>
            <a:r>
              <a:rPr lang="it-IT" sz="1400" dirty="0" err="1"/>
              <a:t>near-perfect</a:t>
            </a:r>
            <a:r>
              <a:rPr lang="it-IT" sz="1400" dirty="0"/>
              <a:t> performance, </a:t>
            </a:r>
            <a:r>
              <a:rPr lang="it-IT" sz="1400" dirty="0" err="1"/>
              <a:t>using</a:t>
            </a:r>
            <a:r>
              <a:rPr lang="it-IT" sz="1400" dirty="0"/>
              <a:t> a moderate L1 </a:t>
            </a:r>
            <a:r>
              <a:rPr lang="it-IT" sz="1400" dirty="0" err="1"/>
              <a:t>regularization</a:t>
            </a:r>
            <a:r>
              <a:rPr lang="it-IT" sz="1400" dirty="0"/>
              <a:t>.</a:t>
            </a:r>
            <a:endParaRPr lang="it-IT" sz="1400" b="1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F3426621-9276-439B-24C7-BC2497218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701" y="3056201"/>
            <a:ext cx="5526299" cy="1468730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A5DD387C-4FAA-5D35-4BC2-339AD9DDB7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217" y="4567929"/>
            <a:ext cx="5531265" cy="1366662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2C13A97-6C06-B68F-8D9C-25129D9F510A}"/>
              </a:ext>
            </a:extLst>
          </p:cNvPr>
          <p:cNvSpPr txBox="1"/>
          <p:nvPr/>
        </p:nvSpPr>
        <p:spPr>
          <a:xfrm>
            <a:off x="131597" y="1612624"/>
            <a:ext cx="6529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 err="1"/>
              <a:t>Logistic</a:t>
            </a:r>
            <a:r>
              <a:rPr lang="it-IT" sz="1600" b="1" dirty="0"/>
              <a:t> </a:t>
            </a:r>
            <a:r>
              <a:rPr lang="it-IT" sz="1600" b="1" dirty="0" err="1"/>
              <a:t>Regression</a:t>
            </a:r>
            <a:r>
              <a:rPr lang="it-IT" sz="1600" b="1" dirty="0"/>
              <a:t> :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D176CC-6223-01F7-F595-E7024F08976D}"/>
              </a:ext>
            </a:extLst>
          </p:cNvPr>
          <p:cNvSpPr txBox="1"/>
          <p:nvPr/>
        </p:nvSpPr>
        <p:spPr>
          <a:xfrm>
            <a:off x="11752188" y="8667"/>
            <a:ext cx="48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8654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027C7-FC93-F358-93F6-491B5154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MONKs</a:t>
            </a:r>
            <a:r>
              <a:rPr lang="it-IT" b="1" dirty="0"/>
              <a:t> - Linear Models (II)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41E0C8-A90D-ED3B-C202-DB8517FF2133}"/>
              </a:ext>
            </a:extLst>
          </p:cNvPr>
          <p:cNvSpPr txBox="1"/>
          <p:nvPr/>
        </p:nvSpPr>
        <p:spPr>
          <a:xfrm>
            <a:off x="177970" y="681037"/>
            <a:ext cx="633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Ridge </a:t>
            </a:r>
            <a:r>
              <a:rPr lang="it-IT" sz="1400" b="1" dirty="0" err="1"/>
              <a:t>Classifier</a:t>
            </a:r>
            <a:r>
              <a:rPr lang="it-IT" sz="1400" b="1" dirty="0"/>
              <a:t> :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1FA758-024A-2BFA-CB28-56C4066D0CD0}"/>
              </a:ext>
            </a:extLst>
          </p:cNvPr>
          <p:cNvSpPr txBox="1"/>
          <p:nvPr/>
        </p:nvSpPr>
        <p:spPr>
          <a:xfrm>
            <a:off x="177970" y="1537251"/>
            <a:ext cx="57625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Similarly to what was observed for Logistic, the most interesting results remain those of </a:t>
            </a:r>
            <a:r>
              <a:rPr lang="en-US" sz="1400" b="1" dirty="0"/>
              <a:t>MONK-1</a:t>
            </a:r>
            <a:r>
              <a:rPr lang="en-US" sz="1400" dirty="0"/>
              <a:t> and </a:t>
            </a:r>
            <a:r>
              <a:rPr lang="en-US" sz="1400" b="1" dirty="0"/>
              <a:t>MONK-2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MONK-1 : </a:t>
            </a:r>
            <a:r>
              <a:rPr lang="en-US" sz="1400" dirty="0"/>
              <a:t>The behavior is similar to Logistic but with a different mechanism. Ridge L2 does not zero the coefficients like L1, it flattens them uniformly towards zero. The model maintains some residual discriminatory power (CM shows 134 TPs vs. </a:t>
            </a:r>
            <a:r>
              <a:rPr lang="en-US" sz="1400" dirty="0" err="1"/>
              <a:t>Logistic's</a:t>
            </a:r>
            <a:r>
              <a:rPr lang="en-US" sz="1400" dirty="0"/>
              <a:t> 108), but suffers from false positives (32 FPs vs. 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MONK-2 : </a:t>
            </a:r>
            <a:r>
              <a:rPr lang="en-US" sz="1400" dirty="0"/>
              <a:t>In this case, the interesting finding is the victory of a model with very high regularization. Like Logistic, it degenerates into a majority-class classifier.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MONK- 3 : </a:t>
            </a:r>
            <a:r>
              <a:rPr lang="en-US" sz="1400" dirty="0"/>
              <a:t>Same result as Logistic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Ridge confirms what Logistic showed, leading to the same conclusion: the linear boundary is insufficient for </a:t>
            </a:r>
            <a:r>
              <a:rPr lang="en-US" sz="1400" b="1" dirty="0"/>
              <a:t>MONK-1</a:t>
            </a:r>
            <a:r>
              <a:rPr lang="en-US" sz="1400" dirty="0"/>
              <a:t> and</a:t>
            </a:r>
            <a:r>
              <a:rPr lang="en-US" sz="1400" b="1" dirty="0"/>
              <a:t> MONK-2</a:t>
            </a:r>
            <a:r>
              <a:rPr lang="en-US" sz="1400" dirty="0"/>
              <a:t>, proving us the necessity of non-linearity to solve these two problems.</a:t>
            </a:r>
          </a:p>
          <a:p>
            <a:pPr lvl="1"/>
            <a:r>
              <a:rPr lang="en-US" sz="1400" dirty="0"/>
              <a:t>Furthermore, the fact that the MONK-3 result is identical to the result for Logistic (both 97.22%) makes us hypothesize that there may be noise rather than a difficulty of the model in solving the problem.</a:t>
            </a:r>
          </a:p>
          <a:p>
            <a:pPr lvl="1"/>
            <a:endParaRPr lang="en-US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04BCF74-F078-616B-3CCB-971998EBC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323" y="623670"/>
            <a:ext cx="3511326" cy="91358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129384A-760B-03D5-A7C2-4B7C1FDEE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531" y="1104405"/>
            <a:ext cx="6056122" cy="175104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3DED604-09A7-4B77-683A-38B4F753F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030" y="2855445"/>
            <a:ext cx="6096000" cy="150975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2F3DC3C-2C71-2077-F5F3-B43AAD164B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030" y="4409357"/>
            <a:ext cx="6096000" cy="151240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419AC2-B763-DF84-B0F9-5022766002E4}"/>
              </a:ext>
            </a:extLst>
          </p:cNvPr>
          <p:cNvSpPr txBox="1"/>
          <p:nvPr/>
        </p:nvSpPr>
        <p:spPr>
          <a:xfrm>
            <a:off x="11725594" y="6137"/>
            <a:ext cx="466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632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368C1-8C86-82FC-C473-482880A0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77326-0B03-FE2E-723D-8E58714C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MONKs</a:t>
            </a:r>
            <a:r>
              <a:rPr lang="it-IT" b="1" dirty="0"/>
              <a:t> - K-NN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9AA66F-80C0-4701-7818-45758A05EFB2}"/>
              </a:ext>
            </a:extLst>
          </p:cNvPr>
          <p:cNvSpPr txBox="1"/>
          <p:nvPr/>
        </p:nvSpPr>
        <p:spPr>
          <a:xfrm>
            <a:off x="153682" y="719666"/>
            <a:ext cx="733964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K-NN</a:t>
            </a:r>
            <a:r>
              <a:rPr lang="en-US" sz="1600" dirty="0"/>
              <a:t> represents the first brush with nonlinearity for our analysis of the </a:t>
            </a:r>
            <a:r>
              <a:rPr lang="en-US" sz="1600" b="1" dirty="0"/>
              <a:t>MONK</a:t>
            </a:r>
            <a:r>
              <a:rPr lang="en-US" sz="1600" dirty="0"/>
              <a:t>s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MONK-1</a:t>
            </a:r>
            <a:r>
              <a:rPr lang="en-US" sz="1600" dirty="0"/>
              <a:t> : The high K value is the most significant finding. With on a 124-sample training set, the model consults over K=15 12% of the dataset for each prediction, effectively </a:t>
            </a:r>
            <a:r>
              <a:rPr lang="en-US" sz="1600" b="1" dirty="0"/>
              <a:t>performing a global vote rather than a local decision</a:t>
            </a:r>
            <a:r>
              <a:rPr lang="en-US" sz="1600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MONK-2</a:t>
            </a:r>
            <a:r>
              <a:rPr lang="en-US" sz="1600" dirty="0"/>
              <a:t> : The same </a:t>
            </a:r>
            <a:r>
              <a:rPr lang="en-US" sz="1600" b="1" dirty="0"/>
              <a:t>K=15 </a:t>
            </a:r>
            <a:r>
              <a:rPr lang="en-US" sz="1600" dirty="0"/>
              <a:t>pattern appears, but here </a:t>
            </a:r>
            <a:r>
              <a:rPr lang="en-US" sz="1600" b="1" dirty="0"/>
              <a:t>K-NN</a:t>
            </a:r>
            <a:r>
              <a:rPr lang="en-US" sz="1600" dirty="0"/>
              <a:t> represents the first non-linear model in our analysis, and the improvement over linear classifiers is notable (75.9% vs 67.1%). The grid search selected distance-weighted voting over uniform, suggesting </a:t>
            </a:r>
            <a:r>
              <a:rPr lang="en-US" sz="1600" b="1" dirty="0"/>
              <a:t>the model is trying to extract a finer signal from the neighbor distances, but with limited success.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MONK-3</a:t>
            </a:r>
            <a:r>
              <a:rPr lang="en-US" sz="1600" dirty="0"/>
              <a:t> : We have the only drop in performance on the Test Set (from 97.22% to 89.12%),</a:t>
            </a:r>
            <a:r>
              <a:rPr lang="en-US" sz="1600" b="1" dirty="0"/>
              <a:t> </a:t>
            </a:r>
            <a:r>
              <a:rPr lang="en-US" sz="1600" dirty="0"/>
              <a:t>compared to the Linear Models. One hypothesis to explain this behavior is </a:t>
            </a:r>
            <a:r>
              <a:rPr lang="en-US" sz="1600" b="1" dirty="0"/>
              <a:t>the presence of noise within the Training Set. </a:t>
            </a:r>
            <a:r>
              <a:rPr lang="en-US" sz="1600" dirty="0"/>
              <a:t>When mislabeled training samples fall in the neighborhood </a:t>
            </a:r>
            <a:r>
              <a:rPr lang="en-US" sz="1600" b="1" dirty="0"/>
              <a:t>(K=11) </a:t>
            </a:r>
            <a:r>
              <a:rPr lang="en-US" sz="1600" dirty="0"/>
              <a:t>of a test point, they corrupt the majority vote. Unlike parametric models which fit a global boundary and are robust to individual noisy points, </a:t>
            </a:r>
            <a:r>
              <a:rPr lang="en-US" sz="1600" b="1" dirty="0"/>
              <a:t>K-NN </a:t>
            </a:r>
            <a:r>
              <a:rPr lang="en-US" sz="1600" dirty="0"/>
              <a:t>memorizes every training sample including the corrupted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Interesting Notes </a:t>
            </a:r>
            <a:r>
              <a:rPr lang="en-US" sz="1600" dirty="0"/>
              <a:t>: The parameter </a:t>
            </a:r>
            <a:r>
              <a:rPr lang="en-US" sz="1600" b="1" dirty="0"/>
              <a:t>p</a:t>
            </a:r>
            <a:r>
              <a:rPr lang="en-US" sz="1600" dirty="0"/>
              <a:t> (Manhattan vs Euclidean) </a:t>
            </a:r>
            <a:r>
              <a:rPr lang="en-US" sz="1600" b="1" dirty="0"/>
              <a:t>has no effect on any dataset</a:t>
            </a:r>
            <a:r>
              <a:rPr lang="en-US" sz="1600" dirty="0"/>
              <a:t>, as expected in binary OHE space where both metrics induce the same neighbor ranking [6].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2E19B44-AEF3-11CB-B58E-CBF903068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252151"/>
              </p:ext>
            </p:extLst>
          </p:nvPr>
        </p:nvGraphicFramePr>
        <p:xfrm>
          <a:off x="7620582" y="1465186"/>
          <a:ext cx="4171614" cy="5099244"/>
        </p:xfrm>
        <a:graphic>
          <a:graphicData uri="http://schemas.openxmlformats.org/drawingml/2006/table">
            <a:tbl>
              <a:tblPr firstCol="1" bandRow="1" bandCol="1">
                <a:tableStyleId>{5C22544A-7EE6-4342-B048-85BDC9FD1C3A}</a:tableStyleId>
              </a:tblPr>
              <a:tblGrid>
                <a:gridCol w="1289801">
                  <a:extLst>
                    <a:ext uri="{9D8B030D-6E8A-4147-A177-3AD203B41FA5}">
                      <a16:colId xmlns:a16="http://schemas.microsoft.com/office/drawing/2014/main" val="2867260177"/>
                    </a:ext>
                  </a:extLst>
                </a:gridCol>
                <a:gridCol w="2881813">
                  <a:extLst>
                    <a:ext uri="{9D8B030D-6E8A-4147-A177-3AD203B41FA5}">
                      <a16:colId xmlns:a16="http://schemas.microsoft.com/office/drawing/2014/main" val="654486295"/>
                    </a:ext>
                  </a:extLst>
                </a:gridCol>
              </a:tblGrid>
              <a:tr h="1699748">
                <a:tc>
                  <a:txBody>
                    <a:bodyPr/>
                    <a:lstStyle/>
                    <a:p>
                      <a:r>
                        <a:rPr lang="it-IT" dirty="0"/>
                        <a:t>MONK-1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84218"/>
                  </a:ext>
                </a:extLst>
              </a:tr>
              <a:tr h="1699748">
                <a:tc>
                  <a:txBody>
                    <a:bodyPr/>
                    <a:lstStyle/>
                    <a:p>
                      <a:r>
                        <a:rPr lang="it-IT" dirty="0"/>
                        <a:t>MONK-2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07213"/>
                  </a:ext>
                </a:extLst>
              </a:tr>
              <a:tr h="1699748">
                <a:tc>
                  <a:txBody>
                    <a:bodyPr/>
                    <a:lstStyle/>
                    <a:p>
                      <a:r>
                        <a:rPr lang="it-IT" dirty="0"/>
                        <a:t>MONK-3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942802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5691E6D8-4849-68F1-509E-8921222E5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636" y="1478272"/>
            <a:ext cx="2903351" cy="169102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6735288-FACE-47D9-D9F1-1C7324B72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451" y="3169296"/>
            <a:ext cx="2903351" cy="169102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021985C-5E32-06F1-5C52-C6B279D6A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576" y="4860320"/>
            <a:ext cx="2903351" cy="169301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0D6DE74-45D3-6685-8E66-ADB3593D9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582" y="574204"/>
            <a:ext cx="4210827" cy="85219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FB7490-550D-FBFB-B35D-0D2F8A90BF30}"/>
              </a:ext>
            </a:extLst>
          </p:cNvPr>
          <p:cNvSpPr txBox="1"/>
          <p:nvPr/>
        </p:nvSpPr>
        <p:spPr>
          <a:xfrm>
            <a:off x="11713321" y="12679"/>
            <a:ext cx="47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94653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A5EC-ECDE-521D-3AE4-57D24950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6E36CF-2067-B4B2-4C82-58D77126B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MONKs</a:t>
            </a:r>
            <a:r>
              <a:rPr lang="it-IT" b="1" dirty="0"/>
              <a:t> – SVM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B1C1546-9F75-9AD4-C135-97B93100FC05}"/>
              </a:ext>
            </a:extLst>
          </p:cNvPr>
          <p:cNvSpPr txBox="1"/>
          <p:nvPr/>
        </p:nvSpPr>
        <p:spPr>
          <a:xfrm>
            <a:off x="129672" y="586035"/>
            <a:ext cx="675801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SVM : </a:t>
            </a:r>
            <a:r>
              <a:rPr lang="en-US" sz="1600" dirty="0"/>
              <a:t>We decided to test the 4 Kernels seen during the SVM’s lecture on all 3 datasets: </a:t>
            </a:r>
            <a:r>
              <a:rPr lang="en-US" sz="1600" b="1" dirty="0"/>
              <a:t>Linear</a:t>
            </a:r>
            <a:r>
              <a:rPr lang="en-US" sz="1600" dirty="0"/>
              <a:t>, </a:t>
            </a:r>
            <a:r>
              <a:rPr lang="en-US" sz="1600" b="1" dirty="0"/>
              <a:t>Polynomial Learning Machine, Radial Basis Function Net</a:t>
            </a:r>
            <a:r>
              <a:rPr lang="en-US" sz="1600" dirty="0"/>
              <a:t>, </a:t>
            </a:r>
            <a:r>
              <a:rPr lang="en-US" sz="1600" b="1" dirty="0"/>
              <a:t>Two-layer perceptron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MONK-1 : SVM </a:t>
            </a:r>
            <a:r>
              <a:rPr lang="it-IT" sz="1600" b="1" dirty="0" err="1"/>
              <a:t>completely</a:t>
            </a:r>
            <a:r>
              <a:rPr lang="it-IT" sz="1600" b="1" dirty="0"/>
              <a:t> </a:t>
            </a:r>
            <a:r>
              <a:rPr lang="it-IT" sz="1600" b="1" dirty="0" err="1"/>
              <a:t>solves</a:t>
            </a:r>
            <a:r>
              <a:rPr lang="it-IT" sz="1600" b="1" dirty="0"/>
              <a:t> the </a:t>
            </a:r>
            <a:r>
              <a:rPr lang="it-IT" sz="1600" b="1" dirty="0" err="1"/>
              <a:t>problem</a:t>
            </a:r>
            <a:r>
              <a:rPr lang="it-IT" sz="1600" dirty="0"/>
              <a:t>. The CM shows zero </a:t>
            </a:r>
            <a:r>
              <a:rPr lang="it-IT" sz="1600" dirty="0" err="1"/>
              <a:t>errors</a:t>
            </a:r>
            <a:r>
              <a:rPr lang="it-IT" sz="1600" dirty="0"/>
              <a:t> and AUC = 1 </a:t>
            </a:r>
            <a:r>
              <a:rPr lang="it-IT" sz="1600" dirty="0" err="1"/>
              <a:t>confirms</a:t>
            </a:r>
            <a:r>
              <a:rPr lang="it-IT" sz="1600" dirty="0"/>
              <a:t> the </a:t>
            </a:r>
            <a:r>
              <a:rPr lang="it-IT" sz="1600" dirty="0" err="1"/>
              <a:t>separation</a:t>
            </a:r>
            <a:r>
              <a:rPr lang="it-IT" sz="1600" dirty="0"/>
              <a:t> with no </a:t>
            </a:r>
            <a:r>
              <a:rPr lang="it-IT" sz="1600" dirty="0" err="1"/>
              <a:t>overlap</a:t>
            </a:r>
            <a:r>
              <a:rPr lang="it-IT" sz="1600" dirty="0"/>
              <a:t>. The </a:t>
            </a:r>
            <a:r>
              <a:rPr lang="it-IT" sz="1600" dirty="0" err="1"/>
              <a:t>victory</a:t>
            </a:r>
            <a:r>
              <a:rPr lang="it-IT" sz="1600" dirty="0"/>
              <a:t> of </a:t>
            </a:r>
            <a:r>
              <a:rPr lang="it-IT" sz="1600" dirty="0" err="1"/>
              <a:t>poly</a:t>
            </a:r>
            <a:r>
              <a:rPr lang="it-IT" sz="1600" dirty="0"/>
              <a:t> of degree = 2, </a:t>
            </a:r>
            <a:r>
              <a:rPr lang="it-IT" sz="1600" dirty="0" err="1"/>
              <a:t>confirms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the </a:t>
            </a:r>
            <a:r>
              <a:rPr lang="it-IT" sz="1600" dirty="0" err="1"/>
              <a:t>problem</a:t>
            </a:r>
            <a:r>
              <a:rPr lang="it-IT" sz="1600" dirty="0"/>
              <a:t> </a:t>
            </a:r>
            <a:r>
              <a:rPr lang="it-IT" sz="1600" dirty="0" err="1"/>
              <a:t>requires</a:t>
            </a:r>
            <a:r>
              <a:rPr lang="it-IT" sz="1600" dirty="0"/>
              <a:t> feature interactions (non-</a:t>
            </a:r>
            <a:r>
              <a:rPr lang="it-IT" sz="1600" dirty="0" err="1"/>
              <a:t>linearity</a:t>
            </a:r>
            <a:r>
              <a:rPr lang="it-IT" sz="1600" dirty="0"/>
              <a:t>),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these</a:t>
            </a:r>
            <a:r>
              <a:rPr lang="it-IT" sz="1600" dirty="0"/>
              <a:t> interactions are </a:t>
            </a:r>
            <a:r>
              <a:rPr lang="it-IT" sz="1600" dirty="0" err="1"/>
              <a:t>relatively</a:t>
            </a:r>
            <a:r>
              <a:rPr lang="it-IT" sz="1600" dirty="0"/>
              <a:t> </a:t>
            </a:r>
            <a:r>
              <a:rPr lang="it-IT" sz="1600" dirty="0" err="1"/>
              <a:t>simple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MONK-2 : </a:t>
            </a:r>
            <a:r>
              <a:rPr lang="it-IT" sz="1600" dirty="0"/>
              <a:t>In </a:t>
            </a:r>
            <a:r>
              <a:rPr lang="it-IT" sz="1600" dirty="0" err="1"/>
              <a:t>this</a:t>
            </a:r>
            <a:r>
              <a:rPr lang="it-IT" sz="1600" dirty="0"/>
              <a:t> case the degree </a:t>
            </a:r>
            <a:r>
              <a:rPr lang="it-IT" sz="1600" dirty="0" err="1"/>
              <a:t>increases</a:t>
            </a:r>
            <a:r>
              <a:rPr lang="it-IT" sz="1600" dirty="0"/>
              <a:t> from 2 to 3 </a:t>
            </a:r>
            <a:r>
              <a:rPr lang="it-IT" sz="1600" dirty="0" err="1"/>
              <a:t>compared</a:t>
            </a:r>
            <a:r>
              <a:rPr lang="it-IT" sz="1600" dirty="0"/>
              <a:t> to MONK-1, </a:t>
            </a:r>
            <a:r>
              <a:rPr lang="it-IT" sz="1600" dirty="0" err="1"/>
              <a:t>signaling</a:t>
            </a:r>
            <a:r>
              <a:rPr lang="it-IT" sz="1600" dirty="0"/>
              <a:t> a more </a:t>
            </a:r>
            <a:r>
              <a:rPr lang="it-IT" sz="1600" dirty="0" err="1"/>
              <a:t>complex</a:t>
            </a:r>
            <a:r>
              <a:rPr lang="it-IT" sz="1600" dirty="0"/>
              <a:t> </a:t>
            </a:r>
            <a:r>
              <a:rPr lang="it-IT" sz="1600" dirty="0" err="1"/>
              <a:t>decision</a:t>
            </a:r>
            <a:r>
              <a:rPr lang="it-IT" sz="1600" dirty="0"/>
              <a:t> </a:t>
            </a:r>
            <a:r>
              <a:rPr lang="it-IT" sz="1600" dirty="0" err="1"/>
              <a:t>boundary</a:t>
            </a:r>
            <a:r>
              <a:rPr lang="it-IT" sz="1600" dirty="0"/>
              <a:t>. The CM shows an </a:t>
            </a:r>
            <a:r>
              <a:rPr lang="it-IT" sz="1600" dirty="0" err="1"/>
              <a:t>important</a:t>
            </a:r>
            <a:r>
              <a:rPr lang="it-IT" sz="1600" dirty="0"/>
              <a:t> </a:t>
            </a:r>
            <a:r>
              <a:rPr lang="it-IT" sz="1600" dirty="0" err="1"/>
              <a:t>difference</a:t>
            </a:r>
            <a:r>
              <a:rPr lang="it-IT" sz="1600" dirty="0"/>
              <a:t> with the </a:t>
            </a:r>
            <a:r>
              <a:rPr lang="it-IT" sz="1600" dirty="0" err="1"/>
              <a:t>previous</a:t>
            </a:r>
            <a:r>
              <a:rPr lang="it-IT" sz="1600" dirty="0"/>
              <a:t> models, a </a:t>
            </a:r>
            <a:r>
              <a:rPr lang="it-IT" sz="1600" dirty="0" err="1"/>
              <a:t>relatively</a:t>
            </a:r>
            <a:r>
              <a:rPr lang="it-IT" sz="1600" dirty="0"/>
              <a:t> </a:t>
            </a:r>
            <a:r>
              <a:rPr lang="it-IT" sz="1600" dirty="0" err="1"/>
              <a:t>balanced</a:t>
            </a:r>
            <a:r>
              <a:rPr lang="it-IT" sz="1600" dirty="0"/>
              <a:t> </a:t>
            </a:r>
            <a:r>
              <a:rPr lang="it-IT" sz="1600" dirty="0" err="1"/>
              <a:t>error</a:t>
            </a:r>
            <a:r>
              <a:rPr lang="it-IT" sz="1600" dirty="0"/>
              <a:t> </a:t>
            </a:r>
            <a:r>
              <a:rPr lang="it-IT" sz="1600" dirty="0" err="1"/>
              <a:t>distribution</a:t>
            </a:r>
            <a:r>
              <a:rPr lang="it-IT" sz="1600" dirty="0"/>
              <a:t>, </a:t>
            </a:r>
            <a:r>
              <a:rPr lang="it-IT" sz="1600" dirty="0" err="1"/>
              <a:t>indicating</a:t>
            </a:r>
            <a:r>
              <a:rPr lang="it-IT" sz="1600" dirty="0"/>
              <a:t> the model </a:t>
            </a:r>
            <a:r>
              <a:rPr lang="it-IT" sz="1600" dirty="0" err="1"/>
              <a:t>has</a:t>
            </a:r>
            <a:r>
              <a:rPr lang="it-IT" sz="1600" dirty="0"/>
              <a:t> </a:t>
            </a:r>
            <a:r>
              <a:rPr lang="it-IT" sz="1600" dirty="0" err="1"/>
              <a:t>learned</a:t>
            </a:r>
            <a:r>
              <a:rPr lang="it-IT" sz="1600" dirty="0"/>
              <a:t> a genuine discriminative pattern </a:t>
            </a:r>
            <a:r>
              <a:rPr lang="it-IT" sz="1600" dirty="0" err="1"/>
              <a:t>rather</a:t>
            </a:r>
            <a:r>
              <a:rPr lang="it-IT" sz="1600" dirty="0"/>
              <a:t> </a:t>
            </a:r>
            <a:r>
              <a:rPr lang="it-IT" sz="1600" dirty="0" err="1"/>
              <a:t>than</a:t>
            </a:r>
            <a:r>
              <a:rPr lang="it-IT" sz="1600" dirty="0"/>
              <a:t> </a:t>
            </a:r>
            <a:r>
              <a:rPr lang="it-IT" sz="1600" dirty="0" err="1"/>
              <a:t>simply</a:t>
            </a:r>
            <a:r>
              <a:rPr lang="it-IT" sz="1600" dirty="0"/>
              <a:t> </a:t>
            </a:r>
            <a:r>
              <a:rPr lang="it-IT" sz="1600" dirty="0" err="1"/>
              <a:t>favoring</a:t>
            </a:r>
            <a:r>
              <a:rPr lang="it-IT" sz="1600" dirty="0"/>
              <a:t> one class. </a:t>
            </a:r>
            <a:r>
              <a:rPr lang="it-IT" sz="1600" dirty="0" err="1"/>
              <a:t>However</a:t>
            </a:r>
            <a:r>
              <a:rPr lang="it-IT" sz="1600" dirty="0"/>
              <a:t>, the model </a:t>
            </a:r>
            <a:r>
              <a:rPr lang="it-IT" sz="1600" dirty="0" err="1"/>
              <a:t>does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reach</a:t>
            </a:r>
            <a:r>
              <a:rPr lang="it-IT" sz="1600" dirty="0"/>
              <a:t> 100% of </a:t>
            </a:r>
            <a:r>
              <a:rPr lang="it-IT" sz="1600" dirty="0" err="1"/>
              <a:t>accuracy</a:t>
            </a:r>
            <a:r>
              <a:rPr lang="it-IT" sz="1600" dirty="0"/>
              <a:t>, </a:t>
            </a:r>
            <a:r>
              <a:rPr lang="it-IT" sz="1600" dirty="0" err="1"/>
              <a:t>suggesting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b="1" dirty="0"/>
              <a:t> the </a:t>
            </a:r>
            <a:r>
              <a:rPr lang="it-IT" sz="1600" b="1" dirty="0" err="1"/>
              <a:t>underlying</a:t>
            </a:r>
            <a:r>
              <a:rPr lang="it-IT" sz="1600" b="1" dirty="0"/>
              <a:t> </a:t>
            </a:r>
            <a:r>
              <a:rPr lang="it-IT" sz="1600" b="1" dirty="0" err="1"/>
              <a:t>structure</a:t>
            </a:r>
            <a:r>
              <a:rPr lang="it-IT" sz="1600" b="1" dirty="0"/>
              <a:t> </a:t>
            </a:r>
            <a:r>
              <a:rPr lang="it-IT" sz="1600" b="1" dirty="0" err="1"/>
              <a:t>requires</a:t>
            </a:r>
            <a:r>
              <a:rPr lang="it-IT" sz="1600" b="1" dirty="0"/>
              <a:t> </a:t>
            </a:r>
            <a:r>
              <a:rPr lang="it-IT" sz="1600" b="1" dirty="0" err="1"/>
              <a:t>even</a:t>
            </a:r>
            <a:r>
              <a:rPr lang="it-IT" sz="1600" b="1" dirty="0"/>
              <a:t> </a:t>
            </a:r>
            <a:r>
              <a:rPr lang="it-IT" sz="1600" b="1" dirty="0" err="1"/>
              <a:t>higher-order</a:t>
            </a:r>
            <a:r>
              <a:rPr lang="it-IT" sz="1600" b="1" dirty="0"/>
              <a:t> interactions </a:t>
            </a:r>
            <a:r>
              <a:rPr lang="it-IT" sz="1600" b="1" dirty="0" err="1"/>
              <a:t>that</a:t>
            </a:r>
            <a:r>
              <a:rPr lang="it-IT" sz="1600" b="1" dirty="0"/>
              <a:t> degree 3 </a:t>
            </a:r>
            <a:r>
              <a:rPr lang="it-IT" sz="1600" b="1" dirty="0" err="1"/>
              <a:t>cannot</a:t>
            </a:r>
            <a:r>
              <a:rPr lang="it-IT" sz="1600" b="1" dirty="0"/>
              <a:t> </a:t>
            </a:r>
            <a:r>
              <a:rPr lang="it-IT" sz="1600" b="1" dirty="0" err="1"/>
              <a:t>fully</a:t>
            </a:r>
            <a:r>
              <a:rPr lang="it-IT" sz="1600" b="1" dirty="0"/>
              <a:t> </a:t>
            </a:r>
            <a:r>
              <a:rPr lang="it-IT" sz="1600" b="1" dirty="0" err="1"/>
              <a:t>capture</a:t>
            </a: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MONK-3 : </a:t>
            </a:r>
            <a:r>
              <a:rPr lang="it-IT" sz="1600" dirty="0"/>
              <a:t>For the first time </a:t>
            </a:r>
            <a:r>
              <a:rPr lang="it-IT" sz="1600" dirty="0" err="1"/>
              <a:t>across</a:t>
            </a:r>
            <a:r>
              <a:rPr lang="it-IT" sz="1600" dirty="0"/>
              <a:t> </a:t>
            </a:r>
            <a:r>
              <a:rPr lang="it-IT" sz="1600" dirty="0" err="1"/>
              <a:t>all</a:t>
            </a:r>
            <a:r>
              <a:rPr lang="it-IT" sz="1600" dirty="0"/>
              <a:t> datasets, a linear kernel </a:t>
            </a:r>
            <a:r>
              <a:rPr lang="it-IT" sz="1600" dirty="0" err="1"/>
              <a:t>wins</a:t>
            </a:r>
            <a:r>
              <a:rPr lang="it-IT" sz="1600" dirty="0"/>
              <a:t> the </a:t>
            </a:r>
            <a:r>
              <a:rPr lang="it-IT" sz="1600" dirty="0" err="1"/>
              <a:t>grid</a:t>
            </a:r>
            <a:r>
              <a:rPr lang="it-IT" sz="1600" dirty="0"/>
              <a:t> </a:t>
            </a:r>
            <a:r>
              <a:rPr lang="it-IT" sz="1600" dirty="0" err="1"/>
              <a:t>search</a:t>
            </a:r>
            <a:r>
              <a:rPr lang="it-IT" sz="1600" dirty="0"/>
              <a:t>. The CM shows 0 FP and </a:t>
            </a:r>
            <a:r>
              <a:rPr lang="it-IT" sz="1600" dirty="0" err="1"/>
              <a:t>only</a:t>
            </a:r>
            <a:r>
              <a:rPr lang="it-IT" sz="1600" dirty="0"/>
              <a:t> 12 FN (Like in Linear Models), </a:t>
            </a:r>
            <a:r>
              <a:rPr lang="en-US" sz="1600" dirty="0"/>
              <a:t>this data confirms the hypothesis made in the previous slide, the fact that a linear model wins over models that are able to describe non-linear relationships but still without reaching 100% accuracy is further proof that the small gap between 97 and 100 is due </a:t>
            </a:r>
            <a:r>
              <a:rPr lang="en-US" sz="1600" b="1" dirty="0"/>
              <a:t>to noise in the dataset</a:t>
            </a:r>
            <a:r>
              <a:rPr lang="en-US" sz="1600" dirty="0"/>
              <a:t>, not to the chosen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0B6D1E5-9672-2F71-5AFB-CD95BFC2C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113" y="1392237"/>
            <a:ext cx="5304313" cy="149617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AE14558-2143-9430-1DE6-173EA833C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113" y="3060656"/>
            <a:ext cx="5304224" cy="132272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929A6C5-65E1-799B-3BE7-E1A1F0A923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202" y="4676395"/>
            <a:ext cx="5304224" cy="131366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40503FE-CB05-5F49-0C34-99579CEA77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358" y="577118"/>
            <a:ext cx="5174641" cy="8705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1A6D28F-48AD-52D9-91CE-AAE08A1F8C0B}"/>
              </a:ext>
            </a:extLst>
          </p:cNvPr>
          <p:cNvSpPr txBox="1"/>
          <p:nvPr/>
        </p:nvSpPr>
        <p:spPr>
          <a:xfrm>
            <a:off x="11744006" y="23266"/>
            <a:ext cx="447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903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1858-01E8-61F6-F7B0-0D555AB8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0822F1-53D4-8C3E-C77D-0BDAEC3C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MONKs</a:t>
            </a:r>
            <a:r>
              <a:rPr lang="it-IT" b="1" dirty="0"/>
              <a:t> - NN (I)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FE7A19E-981F-FD3F-F661-D71967D30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425360"/>
              </p:ext>
            </p:extLst>
          </p:nvPr>
        </p:nvGraphicFramePr>
        <p:xfrm>
          <a:off x="3859480" y="681038"/>
          <a:ext cx="8332520" cy="61414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3205">
                  <a:extLst>
                    <a:ext uri="{9D8B030D-6E8A-4147-A177-3AD203B41FA5}">
                      <a16:colId xmlns:a16="http://schemas.microsoft.com/office/drawing/2014/main" val="1765938357"/>
                    </a:ext>
                  </a:extLst>
                </a:gridCol>
                <a:gridCol w="3801806">
                  <a:extLst>
                    <a:ext uri="{9D8B030D-6E8A-4147-A177-3AD203B41FA5}">
                      <a16:colId xmlns:a16="http://schemas.microsoft.com/office/drawing/2014/main" val="810128618"/>
                    </a:ext>
                  </a:extLst>
                </a:gridCol>
                <a:gridCol w="3787509">
                  <a:extLst>
                    <a:ext uri="{9D8B030D-6E8A-4147-A177-3AD203B41FA5}">
                      <a16:colId xmlns:a16="http://schemas.microsoft.com/office/drawing/2014/main" val="2513816003"/>
                    </a:ext>
                  </a:extLst>
                </a:gridCol>
              </a:tblGrid>
              <a:tr h="589303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 err="1"/>
                        <a:t>Tanh</a:t>
                      </a:r>
                      <a:endParaRPr lang="it-IT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 err="1"/>
                        <a:t>ReLU</a:t>
                      </a:r>
                      <a:endParaRPr lang="it-IT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874592"/>
                  </a:ext>
                </a:extLst>
              </a:tr>
              <a:tr h="181347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87357"/>
                  </a:ext>
                </a:extLst>
              </a:tr>
              <a:tr h="181347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97122"/>
                  </a:ext>
                </a:extLst>
              </a:tr>
              <a:tr h="181347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681826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497055-B3F1-6AAA-02F2-1842B4F3FD48}"/>
              </a:ext>
            </a:extLst>
          </p:cNvPr>
          <p:cNvSpPr txBox="1"/>
          <p:nvPr/>
        </p:nvSpPr>
        <p:spPr>
          <a:xfrm>
            <a:off x="83127" y="681037"/>
            <a:ext cx="366947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Before moving on to a real </a:t>
            </a:r>
            <a:r>
              <a:rPr lang="en-US" sz="1400" dirty="0" err="1"/>
              <a:t>gridsearch</a:t>
            </a:r>
            <a:r>
              <a:rPr lang="en-US" sz="1400" dirty="0"/>
              <a:t> for the 3 datasets we decided to define a simple Neural Network with fixed parameters: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Architecture</a:t>
            </a:r>
            <a:r>
              <a:rPr lang="en-US" sz="1400" dirty="0"/>
              <a:t> : (16,)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Learning Rate </a:t>
            </a:r>
            <a:r>
              <a:rPr lang="en-US" sz="1400" dirty="0"/>
              <a:t>: 0.01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Epochs </a:t>
            </a:r>
            <a:r>
              <a:rPr lang="en-US" sz="1400" dirty="0"/>
              <a:t>: 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parameters were set to reasonable default values, as the purpose was not to perform tuning but to isolate the effect of the optimizer.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Our goal is to test and see the behavior of the neural network </a:t>
            </a:r>
            <a:r>
              <a:rPr lang="en-US" sz="1400" b="1" dirty="0"/>
              <a:t>with Stochastic Gradient Descent</a:t>
            </a:r>
            <a:r>
              <a:rPr lang="en-US" sz="1400" dirty="0"/>
              <a:t>, add the </a:t>
            </a:r>
            <a:r>
              <a:rPr lang="en-US" sz="1400" b="1" dirty="0"/>
              <a:t>Momentum </a:t>
            </a:r>
            <a:r>
              <a:rPr lang="en-US" sz="1400" dirty="0"/>
              <a:t>and finally use an </a:t>
            </a:r>
            <a:r>
              <a:rPr lang="en-US" sz="1400" b="1" dirty="0"/>
              <a:t>Adaptive Learning Rate </a:t>
            </a:r>
            <a:r>
              <a:rPr lang="en-US" sz="1400" dirty="0"/>
              <a:t>(</a:t>
            </a:r>
            <a:r>
              <a:rPr lang="en-US" sz="1400" b="1" dirty="0"/>
              <a:t>Adam</a:t>
            </a:r>
            <a:r>
              <a:rPr lang="en-US" sz="1400" dirty="0"/>
              <a:t> specifically).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will test these configurations using two specific activation functions: </a:t>
            </a:r>
            <a:r>
              <a:rPr lang="en-US" sz="1400" b="1" dirty="0"/>
              <a:t>Tanh</a:t>
            </a:r>
            <a:r>
              <a:rPr lang="en-US" sz="1400" dirty="0"/>
              <a:t> and </a:t>
            </a:r>
            <a:r>
              <a:rPr lang="en-US" sz="1400" b="1" dirty="0" err="1"/>
              <a:t>ReLU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5575BA8-C660-80A7-0732-3995FCF37813}"/>
              </a:ext>
            </a:extLst>
          </p:cNvPr>
          <p:cNvSpPr txBox="1"/>
          <p:nvPr/>
        </p:nvSpPr>
        <p:spPr>
          <a:xfrm rot="16200000">
            <a:off x="3199097" y="1781299"/>
            <a:ext cx="2208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</a:rPr>
              <a:t>SGD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BED386-F3F0-796E-FAD3-C2BC53DF2E15}"/>
              </a:ext>
            </a:extLst>
          </p:cNvPr>
          <p:cNvSpPr txBox="1"/>
          <p:nvPr/>
        </p:nvSpPr>
        <p:spPr>
          <a:xfrm rot="16200000">
            <a:off x="3290941" y="3733334"/>
            <a:ext cx="2012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SGD + Momentum (0.9)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C039BD4-DB7D-52E6-C64C-36E995F49846}"/>
              </a:ext>
            </a:extLst>
          </p:cNvPr>
          <p:cNvSpPr txBox="1"/>
          <p:nvPr/>
        </p:nvSpPr>
        <p:spPr>
          <a:xfrm rot="16200000">
            <a:off x="3082256" y="5149325"/>
            <a:ext cx="2442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</a:rPr>
              <a:t>ADAM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92DA363-8866-50B2-3864-01C8745D7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560" y="1392629"/>
            <a:ext cx="3777578" cy="178519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6686CBB5-5736-9770-AD66-75C3E0CE3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561" y="3177828"/>
            <a:ext cx="3777578" cy="184216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A4C221DA-42DF-C088-63FE-5251C0462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830" y="5000171"/>
            <a:ext cx="3797803" cy="1822343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DC29B54A-94A8-936F-E5FC-303040595D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632" y="1392629"/>
            <a:ext cx="3782367" cy="1785199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F26F4937-9DCC-E830-2FF1-2B65DFE24F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632" y="3158004"/>
            <a:ext cx="3782368" cy="1861991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4CC1B090-3B75-994A-37E6-32F9546F08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176" y="5019995"/>
            <a:ext cx="3791282" cy="180251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288DBD9-309A-188A-350E-7392FBE17DE4}"/>
              </a:ext>
            </a:extLst>
          </p:cNvPr>
          <p:cNvSpPr txBox="1"/>
          <p:nvPr/>
        </p:nvSpPr>
        <p:spPr>
          <a:xfrm>
            <a:off x="11719456" y="0"/>
            <a:ext cx="47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3183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3D5B-A9FC-8EF8-B638-233AE5DEA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F268DB-BA71-DA6A-2934-7D834465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MONKs</a:t>
            </a:r>
            <a:r>
              <a:rPr lang="it-IT" b="1" dirty="0"/>
              <a:t> - NN (II) + </a:t>
            </a:r>
            <a:r>
              <a:rPr lang="it-IT" b="1" dirty="0" err="1"/>
              <a:t>Conclusions</a:t>
            </a:r>
            <a:endParaRPr lang="it-IT" b="1" dirty="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B306704-2555-763A-A46E-23FE118A1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662673"/>
              </p:ext>
            </p:extLst>
          </p:nvPr>
        </p:nvGraphicFramePr>
        <p:xfrm>
          <a:off x="0" y="719667"/>
          <a:ext cx="12063125" cy="61383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67125">
                  <a:extLst>
                    <a:ext uri="{9D8B030D-6E8A-4147-A177-3AD203B41FA5}">
                      <a16:colId xmlns:a16="http://schemas.microsoft.com/office/drawing/2014/main" val="67962241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03537372"/>
                    </a:ext>
                  </a:extLst>
                </a:gridCol>
              </a:tblGrid>
              <a:tr h="2046111">
                <a:tc>
                  <a:txBody>
                    <a:bodyPr/>
                    <a:lstStyle/>
                    <a:p>
                      <a:r>
                        <a:rPr lang="it-IT" sz="1400" b="1" dirty="0"/>
                        <a:t>MONK-1 : TR = 100%| VL = 100%| TS= 100%</a:t>
                      </a:r>
                    </a:p>
                    <a:p>
                      <a:r>
                        <a:rPr lang="en-US" sz="1400" dirty="0">
                          <a:effectLst/>
                        </a:rPr>
                        <a:t>In the previous slides we hypothesized that MONK-1 is a non-linear problem with relatively simple structure. To confirm this, we restricted the grid search to </a:t>
                      </a:r>
                      <a:r>
                        <a:rPr lang="en-US" sz="1400" b="1" dirty="0">
                          <a:effectLst/>
                        </a:rPr>
                        <a:t>single-layer architectures with a limited number of units</a:t>
                      </a:r>
                      <a:r>
                        <a:rPr lang="en-US" sz="1400" dirty="0">
                          <a:effectLst/>
                        </a:rPr>
                        <a:t> (2 or 4). The fact that this constrained search space still yields 100% test accuracy, consistent with the result previously obtained by SVM with a polynomial kernel of degree 2 ,provides strong empirical confirmation of our hypothesis: </a:t>
                      </a:r>
                      <a:r>
                        <a:rPr lang="en-US" sz="1400" b="1" dirty="0">
                          <a:effectLst/>
                        </a:rPr>
                        <a:t>MONK-1 requires non-linearity, but the underlying decision boundary can be captured by networks of low capacity.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838662"/>
                  </a:ext>
                </a:extLst>
              </a:tr>
              <a:tr h="2046111">
                <a:tc>
                  <a:txBody>
                    <a:bodyPr/>
                    <a:lstStyle/>
                    <a:p>
                      <a:r>
                        <a:rPr lang="it-IT" sz="1400" b="1" dirty="0"/>
                        <a:t>MONK-2 : TR = 100%| VL = 100%| TS = 100%</a:t>
                      </a:r>
                    </a:p>
                    <a:p>
                      <a:r>
                        <a:rPr lang="en-US" sz="1400" dirty="0"/>
                        <a:t>This result proves that MONK-2 is also fully solvable, even with a simple architecture (1 hidden layer with 2 units), highlighting the capability of neural networks to learn adaptive intermediate representations. The failure of SVM (85.6%) is not due to insufficient dimensionality (kernel methods can project into very high-dimensional spaces) but rather to the </a:t>
                      </a:r>
                      <a:r>
                        <a:rPr lang="en-US" sz="1400" b="1" dirty="0"/>
                        <a:t>fixed nature of kernel transformations</a:t>
                      </a:r>
                      <a:r>
                        <a:rPr lang="en-US" sz="1400" dirty="0"/>
                        <a:t>: polynomial and RBF kernels generate predefined feature mappings, while a network learns adaptive intermediate representations tailored to the specific problem [7].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73631"/>
                  </a:ext>
                </a:extLst>
              </a:tr>
              <a:tr h="2046111">
                <a:tc>
                  <a:txBody>
                    <a:bodyPr/>
                    <a:lstStyle/>
                    <a:p>
                      <a:r>
                        <a:rPr lang="it-IT" sz="1400" b="1" dirty="0"/>
                        <a:t>MONK-3 : TR = 94.26%| VL =  94.40%| TS = 97.22%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this model, too, we get the same result to those seen previously. The fact that even a three-layer network isn't able to solve the problem is final proof of the presence of noise in the dataset.</a:t>
                      </a:r>
                    </a:p>
                    <a:p>
                      <a:r>
                        <a:rPr lang="en-US" sz="1400" b="0" dirty="0"/>
                        <a:t>Now we can say : </a:t>
                      </a:r>
                      <a:r>
                        <a:rPr lang="en-US" sz="1400" b="1" dirty="0"/>
                        <a:t> the limiting factor is not model capacity but data quality.</a:t>
                      </a:r>
                      <a:endParaRPr lang="it-IT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3502"/>
                  </a:ext>
                </a:extLst>
              </a:tr>
            </a:tbl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F0639838-6BED-3F27-4FCE-4E0CC1FCA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353" y="719667"/>
            <a:ext cx="6214647" cy="203580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3B6CC0B-00D7-7FEB-7B01-CA4FF5070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353" y="2770929"/>
            <a:ext cx="6214647" cy="203580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BBA95FC-E070-33AB-410E-FB70783D9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354" y="4806736"/>
            <a:ext cx="6214646" cy="205126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9FDAF3B-713D-C6EE-5D23-FD45EECF2914}"/>
              </a:ext>
            </a:extLst>
          </p:cNvPr>
          <p:cNvSpPr txBox="1"/>
          <p:nvPr/>
        </p:nvSpPr>
        <p:spPr>
          <a:xfrm>
            <a:off x="11715366" y="-28814"/>
            <a:ext cx="47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7555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8092B-AC98-CF96-67A3-5968F12B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615801-01B0-51FE-F9AC-8AC75021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Analysis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C3C0184-F173-85B9-3052-AFCE740F685B}"/>
              </a:ext>
            </a:extLst>
          </p:cNvPr>
          <p:cNvSpPr txBox="1"/>
          <p:nvPr/>
        </p:nvSpPr>
        <p:spPr>
          <a:xfrm>
            <a:off x="330200" y="1159475"/>
            <a:ext cx="11531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For ML_CUP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decided</a:t>
            </a:r>
            <a:r>
              <a:rPr lang="it-IT" sz="1600" dirty="0"/>
              <a:t> to test the </a:t>
            </a:r>
            <a:r>
              <a:rPr lang="it-IT" sz="1600" dirty="0" err="1"/>
              <a:t>same</a:t>
            </a:r>
            <a:r>
              <a:rPr lang="it-IT" sz="1600" dirty="0"/>
              <a:t> models </a:t>
            </a:r>
            <a:r>
              <a:rPr lang="it-IT" sz="1600" dirty="0" err="1"/>
              <a:t>tested</a:t>
            </a:r>
            <a:r>
              <a:rPr lang="it-IT" sz="1600" dirty="0"/>
              <a:t> for Monk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The </a:t>
            </a:r>
            <a:r>
              <a:rPr lang="it-IT" sz="1600" dirty="0" err="1"/>
              <a:t>difference</a:t>
            </a:r>
            <a:r>
              <a:rPr lang="it-IT" sz="1600" dirty="0"/>
              <a:t> with Monk stands in the </a:t>
            </a:r>
            <a:r>
              <a:rPr lang="it-IT" sz="1600" dirty="0" err="1"/>
              <a:t>aim</a:t>
            </a:r>
            <a:r>
              <a:rPr lang="it-IT" sz="1600" dirty="0"/>
              <a:t> : The goal for </a:t>
            </a:r>
            <a:r>
              <a:rPr lang="it-IT" sz="1600" dirty="0" err="1"/>
              <a:t>this</a:t>
            </a:r>
            <a:r>
              <a:rPr lang="it-IT" sz="1600" dirty="0"/>
              <a:t> dataset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fully</a:t>
            </a:r>
            <a:r>
              <a:rPr lang="it-IT" sz="1600" dirty="0"/>
              <a:t> </a:t>
            </a:r>
            <a:r>
              <a:rPr lang="it-IT" sz="1600" dirty="0" err="1"/>
              <a:t>analytical</a:t>
            </a:r>
            <a:r>
              <a:rPr lang="it-IT" sz="1600" dirty="0"/>
              <a:t>, </a:t>
            </a:r>
            <a:r>
              <a:rPr lang="it-IT" sz="1600" dirty="0" err="1"/>
              <a:t>but</a:t>
            </a:r>
            <a:r>
              <a:rPr lang="it-IT" sz="1600" dirty="0"/>
              <a:t> </a:t>
            </a:r>
            <a:r>
              <a:rPr lang="it-IT" sz="1600" dirty="0" err="1"/>
              <a:t>we’re</a:t>
            </a:r>
            <a:r>
              <a:rPr lang="it-IT" sz="1600" dirty="0"/>
              <a:t> </a:t>
            </a:r>
            <a:r>
              <a:rPr lang="it-IT" sz="1600" dirty="0" err="1"/>
              <a:t>performing</a:t>
            </a:r>
            <a:r>
              <a:rPr lang="it-IT" sz="1600" dirty="0"/>
              <a:t> a </a:t>
            </a:r>
            <a:r>
              <a:rPr lang="it-IT" sz="1600" b="1" dirty="0"/>
              <a:t>trade-off </a:t>
            </a:r>
            <a:r>
              <a:rPr lang="it-IT" sz="1600" b="1" dirty="0" err="1"/>
              <a:t>between</a:t>
            </a:r>
            <a:r>
              <a:rPr lang="it-IT" sz="1600" b="1" dirty="0"/>
              <a:t> </a:t>
            </a:r>
            <a:r>
              <a:rPr lang="it-IT" sz="1600" b="1" dirty="0" err="1"/>
              <a:t>analysis</a:t>
            </a:r>
            <a:r>
              <a:rPr lang="it-IT" sz="1600" b="1" dirty="0"/>
              <a:t> ad </a:t>
            </a:r>
            <a:r>
              <a:rPr lang="it-IT" sz="1600" b="1" dirty="0" err="1"/>
              <a:t>optimization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In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sense</a:t>
            </a:r>
            <a:r>
              <a:rPr lang="it-IT" sz="1600" dirty="0"/>
              <a:t>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decided</a:t>
            </a:r>
            <a:r>
              <a:rPr lang="it-IT" sz="1600" dirty="0"/>
              <a:t> to split the dataset (</a:t>
            </a:r>
            <a:r>
              <a:rPr lang="it-IT" sz="1600" dirty="0" err="1"/>
              <a:t>according</a:t>
            </a:r>
            <a:r>
              <a:rPr lang="it-IT" sz="1600" dirty="0"/>
              <a:t> to the </a:t>
            </a:r>
            <a:r>
              <a:rPr lang="it-IT" sz="1600" b="1" dirty="0"/>
              <a:t>Golden Rule</a:t>
            </a:r>
            <a:r>
              <a:rPr lang="it-IT" sz="1600" dirty="0"/>
              <a:t>), in </a:t>
            </a:r>
            <a:r>
              <a:rPr lang="it-IT" sz="1600" dirty="0" err="1"/>
              <a:t>order</a:t>
            </a:r>
            <a:r>
              <a:rPr lang="it-IT" sz="1600" dirty="0"/>
              <a:t> to </a:t>
            </a:r>
            <a:r>
              <a:rPr lang="it-IT" sz="1600" dirty="0" err="1"/>
              <a:t>have</a:t>
            </a:r>
            <a:r>
              <a:rPr lang="it-IT" sz="1600" dirty="0"/>
              <a:t> an </a:t>
            </a:r>
            <a:r>
              <a:rPr lang="it-IT" sz="1600" b="1" dirty="0" err="1"/>
              <a:t>internal</a:t>
            </a:r>
            <a:r>
              <a:rPr lang="it-IT" sz="1600" b="1" dirty="0"/>
              <a:t> Test set </a:t>
            </a:r>
            <a:r>
              <a:rPr lang="it-IT" sz="1600" dirty="0"/>
              <a:t>to </a:t>
            </a:r>
            <a:r>
              <a:rPr lang="it-IT" sz="1600" dirty="0" err="1"/>
              <a:t>perform</a:t>
            </a:r>
            <a:r>
              <a:rPr lang="it-IT" sz="1600" dirty="0"/>
              <a:t> </a:t>
            </a:r>
            <a:r>
              <a:rPr lang="it-IT" sz="1600" b="1" dirty="0"/>
              <a:t>a </a:t>
            </a:r>
            <a:r>
              <a:rPr lang="it-IT" sz="1600" b="1" dirty="0" err="1"/>
              <a:t>proper</a:t>
            </a:r>
            <a:r>
              <a:rPr lang="it-IT" sz="1600" b="1" dirty="0"/>
              <a:t> Model </a:t>
            </a:r>
            <a:r>
              <a:rPr lang="it-IT" sz="1600" b="1" dirty="0" err="1"/>
              <a:t>Assessment</a:t>
            </a:r>
            <a:r>
              <a:rPr lang="it-IT" sz="1600" dirty="0"/>
              <a:t>.: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80% (400 samples) </a:t>
            </a:r>
            <a:r>
              <a:rPr lang="it-IT" sz="1600" dirty="0">
                <a:sym typeface="Wingdings" panose="05000000000000000000" pitchFamily="2" charset="2"/>
              </a:rPr>
              <a:t> </a:t>
            </a:r>
            <a:r>
              <a:rPr lang="it-IT" sz="1600" dirty="0" err="1">
                <a:sym typeface="Wingdings" panose="05000000000000000000" pitchFamily="2" charset="2"/>
              </a:rPr>
              <a:t>used</a:t>
            </a:r>
            <a:r>
              <a:rPr lang="it-IT" sz="1600" dirty="0">
                <a:sym typeface="Wingdings" panose="05000000000000000000" pitchFamily="2" charset="2"/>
              </a:rPr>
              <a:t> for </a:t>
            </a:r>
            <a:r>
              <a:rPr lang="it-IT" sz="1600" dirty="0" err="1">
                <a:sym typeface="Wingdings" panose="05000000000000000000" pitchFamily="2" charset="2"/>
              </a:rPr>
              <a:t>all</a:t>
            </a:r>
            <a:r>
              <a:rPr lang="it-IT" sz="1600" dirty="0">
                <a:sym typeface="Wingdings" panose="05000000000000000000" pitchFamily="2" charset="2"/>
              </a:rPr>
              <a:t> model </a:t>
            </a:r>
            <a:r>
              <a:rPr lang="it-IT" sz="1600" dirty="0" err="1">
                <a:sym typeface="Wingdings" panose="05000000000000000000" pitchFamily="2" charset="2"/>
              </a:rPr>
              <a:t>selection</a:t>
            </a:r>
            <a:endParaRPr lang="it-IT" sz="16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>
                <a:sym typeface="Wingdings" panose="05000000000000000000" pitchFamily="2" charset="2"/>
              </a:rPr>
              <a:t>20% (100 samples) 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had</a:t>
            </a:r>
            <a:r>
              <a:rPr lang="it-IT" sz="1600" dirty="0"/>
              <a:t> </a:t>
            </a:r>
            <a:r>
              <a:rPr lang="it-IT" sz="1600" dirty="0" err="1"/>
              <a:t>never</a:t>
            </a:r>
            <a:r>
              <a:rPr lang="it-IT" sz="1600" dirty="0"/>
              <a:t> touch </a:t>
            </a:r>
            <a:r>
              <a:rPr lang="it-IT" sz="1600" dirty="0" err="1"/>
              <a:t>those</a:t>
            </a:r>
            <a:r>
              <a:rPr lang="it-IT" sz="1600" dirty="0"/>
              <a:t> 100 samples </a:t>
            </a:r>
            <a:r>
              <a:rPr lang="it-IT" sz="1600" dirty="0" err="1"/>
              <a:t>until</a:t>
            </a:r>
            <a:r>
              <a:rPr lang="it-IT" sz="1600" dirty="0"/>
              <a:t> the end of the Model </a:t>
            </a:r>
            <a:r>
              <a:rPr lang="it-IT" sz="1600" dirty="0" err="1"/>
              <a:t>Selection</a:t>
            </a:r>
            <a:r>
              <a:rPr lang="it-IT" sz="1600" dirty="0"/>
              <a:t>, </a:t>
            </a:r>
            <a:r>
              <a:rPr lang="it-IT" sz="1600" dirty="0" err="1"/>
              <a:t>only</a:t>
            </a:r>
            <a:r>
              <a:rPr lang="it-IT" sz="1600" dirty="0"/>
              <a:t> for Model </a:t>
            </a:r>
            <a:r>
              <a:rPr lang="it-IT" sz="1600" dirty="0" err="1"/>
              <a:t>Assessment</a:t>
            </a:r>
            <a:endParaRPr lang="it-IT" sz="1600" dirty="0"/>
          </a:p>
          <a:p>
            <a:pPr lvl="1"/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 err="1"/>
              <a:t>Implementation</a:t>
            </a:r>
            <a:r>
              <a:rPr lang="it-IT" sz="1600" b="1" dirty="0"/>
              <a:t> Note </a:t>
            </a:r>
            <a:r>
              <a:rPr lang="it-IT" sz="1600" dirty="0"/>
              <a:t>: </a:t>
            </a:r>
            <a:r>
              <a:rPr lang="en-US" sz="1600" dirty="0"/>
              <a:t>Although most of the analysis was performed almost entirely in a Notebook, we decided to run the </a:t>
            </a:r>
            <a:r>
              <a:rPr lang="en-US" sz="1600" dirty="0" err="1"/>
              <a:t>gridsearch</a:t>
            </a:r>
            <a:r>
              <a:rPr lang="en-US" sz="1600" dirty="0"/>
              <a:t> for MLP on external files and then report the table of the Top 10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Those Top 10 tables were the ones that guided us during our hyperparameters tuning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endParaRPr lang="it-IT" sz="16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33B0845-2F11-89FC-58E2-17DA5B7DEC84}"/>
              </a:ext>
            </a:extLst>
          </p:cNvPr>
          <p:cNvSpPr txBox="1"/>
          <p:nvPr/>
        </p:nvSpPr>
        <p:spPr>
          <a:xfrm>
            <a:off x="11688773" y="613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73294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97201-06A3-0736-2767-BD81E0E1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19A6AD-5D2E-5208-428D-A14B8F6A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– Baseline and Linear Models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135C6EB-57C2-D10C-465B-785D4F467740}"/>
              </a:ext>
            </a:extLst>
          </p:cNvPr>
          <p:cNvSpPr txBox="1"/>
          <p:nvPr/>
        </p:nvSpPr>
        <p:spPr>
          <a:xfrm>
            <a:off x="220929" y="773251"/>
            <a:ext cx="1159262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started</a:t>
            </a:r>
            <a:r>
              <a:rPr lang="it-IT" sz="1400" dirty="0"/>
              <a:t> </a:t>
            </a:r>
            <a:r>
              <a:rPr lang="it-IT" sz="1400" dirty="0" err="1"/>
              <a:t>our</a:t>
            </a:r>
            <a:r>
              <a:rPr lang="it-IT" sz="1400" dirty="0"/>
              <a:t> </a:t>
            </a:r>
            <a:r>
              <a:rPr lang="it-IT" sz="1400" dirty="0" err="1"/>
              <a:t>analysis</a:t>
            </a:r>
            <a:r>
              <a:rPr lang="it-IT" sz="1400" dirty="0"/>
              <a:t> by </a:t>
            </a:r>
            <a:r>
              <a:rPr lang="it-IT" sz="1400" dirty="0" err="1"/>
              <a:t>finding</a:t>
            </a:r>
            <a:r>
              <a:rPr lang="it-IT" sz="1400" dirty="0"/>
              <a:t> a </a:t>
            </a:r>
            <a:r>
              <a:rPr lang="it-IT" sz="1400" b="1" dirty="0"/>
              <a:t>baseline</a:t>
            </a:r>
            <a:r>
              <a:rPr lang="it-IT" sz="1400" dirty="0"/>
              <a:t> with a </a:t>
            </a:r>
            <a:r>
              <a:rPr lang="it-IT" sz="1400" dirty="0" err="1"/>
              <a:t>simple</a:t>
            </a:r>
            <a:r>
              <a:rPr lang="it-IT" sz="1400" dirty="0"/>
              <a:t> </a:t>
            </a:r>
            <a:r>
              <a:rPr lang="it-IT" sz="1400" b="1" dirty="0"/>
              <a:t>Linear Model (OLS) </a:t>
            </a:r>
            <a:r>
              <a:rPr lang="it-IT" sz="1400" dirty="0"/>
              <a:t>:  </a:t>
            </a:r>
            <a:r>
              <a:rPr lang="it-IT" sz="1600" b="1" dirty="0"/>
              <a:t>MEE : 26.1816 </a:t>
            </a:r>
            <a:r>
              <a:rPr lang="it-IT" sz="1600" dirty="0">
                <a:sym typeface="Wingdings" panose="05000000000000000000" pitchFamily="2" charset="2"/>
              </a:rPr>
              <a:t> </a:t>
            </a:r>
            <a:r>
              <a:rPr lang="it-IT" sz="1600" dirty="0" err="1">
                <a:sym typeface="Wingdings" panose="05000000000000000000" pitchFamily="2" charset="2"/>
              </a:rPr>
              <a:t>We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need</a:t>
            </a:r>
            <a:r>
              <a:rPr lang="it-IT" sz="1600" dirty="0">
                <a:sym typeface="Wingdings" panose="05000000000000000000" pitchFamily="2" charset="2"/>
              </a:rPr>
              <a:t> to </a:t>
            </a:r>
            <a:r>
              <a:rPr lang="it-IT" sz="1600" dirty="0" err="1">
                <a:sym typeface="Wingdings" panose="05000000000000000000" pitchFamily="2" charset="2"/>
              </a:rPr>
              <a:t>improve</a:t>
            </a:r>
            <a:r>
              <a:rPr lang="it-IT" sz="1600" dirty="0">
                <a:sym typeface="Wingdings" panose="05000000000000000000" pitchFamily="2" charset="2"/>
              </a:rPr>
              <a:t> </a:t>
            </a:r>
            <a:r>
              <a:rPr lang="it-IT" sz="1600" dirty="0" err="1">
                <a:sym typeface="Wingdings" panose="05000000000000000000" pitchFamily="2" charset="2"/>
              </a:rPr>
              <a:t>this</a:t>
            </a:r>
            <a:r>
              <a:rPr lang="it-IT" sz="1600" dirty="0">
                <a:sym typeface="Wingdings" panose="05000000000000000000" pitchFamily="2" charset="2"/>
              </a:rPr>
              <a:t> 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ym typeface="Wingdings" panose="05000000000000000000" pitchFamily="2" charset="2"/>
              </a:rPr>
              <a:t>The first step to </a:t>
            </a:r>
            <a:r>
              <a:rPr lang="it-IT" sz="1400" dirty="0" err="1">
                <a:sym typeface="Wingdings" panose="05000000000000000000" pitchFamily="2" charset="2"/>
              </a:rPr>
              <a:t>improve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this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value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is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adding</a:t>
            </a:r>
            <a:r>
              <a:rPr lang="it-IT" sz="1400" dirty="0">
                <a:sym typeface="Wingdings" panose="05000000000000000000" pitchFamily="2" charset="2"/>
              </a:rPr>
              <a:t> the </a:t>
            </a:r>
            <a:r>
              <a:rPr lang="it-IT" sz="1400" b="1" dirty="0">
                <a:sym typeface="Wingdings" panose="05000000000000000000" pitchFamily="2" charset="2"/>
              </a:rPr>
              <a:t>L1</a:t>
            </a:r>
            <a:r>
              <a:rPr lang="it-IT" sz="1400" dirty="0">
                <a:sym typeface="Wingdings" panose="05000000000000000000" pitchFamily="2" charset="2"/>
              </a:rPr>
              <a:t> or </a:t>
            </a:r>
            <a:r>
              <a:rPr lang="it-IT" sz="1400" b="1" dirty="0">
                <a:sym typeface="Wingdings" panose="05000000000000000000" pitchFamily="2" charset="2"/>
              </a:rPr>
              <a:t>L2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regularization</a:t>
            </a:r>
            <a:r>
              <a:rPr lang="it-IT" sz="1400" dirty="0">
                <a:sym typeface="Wingdings" panose="05000000000000000000" pitchFamily="2" charset="2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>
                <a:sym typeface="Wingdings" panose="05000000000000000000" pitchFamily="2" charset="2"/>
              </a:rPr>
              <a:t>L1 (Lasso) : </a:t>
            </a:r>
            <a:r>
              <a:rPr lang="en-US" sz="1400" dirty="0" err="1"/>
              <a:t>alphas_lasso</a:t>
            </a:r>
            <a:r>
              <a:rPr lang="en-US" sz="1400" dirty="0"/>
              <a:t> = [0.0001, 0.001, 0.01, 0.1, 1.0, 10.0] </a:t>
            </a:r>
            <a:r>
              <a:rPr lang="en-US" sz="1400" dirty="0">
                <a:sym typeface="Wingdings" panose="05000000000000000000" pitchFamily="2" charset="2"/>
              </a:rPr>
              <a:t> WINNER : </a:t>
            </a:r>
            <a:r>
              <a:rPr lang="en-US" sz="1400" b="1" dirty="0">
                <a:sym typeface="Wingdings" panose="05000000000000000000" pitchFamily="2" charset="2"/>
              </a:rPr>
              <a:t>alpha = 0.1 , Validation MEE = 25.6353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L2 (Ridge) : </a:t>
            </a:r>
            <a:r>
              <a:rPr lang="en-US" sz="1400" dirty="0" err="1"/>
              <a:t>alphas_ridge</a:t>
            </a:r>
            <a:r>
              <a:rPr lang="en-US" sz="1400" dirty="0"/>
              <a:t> = [0.001, 0.01, 0.1, 1.0, 10.0, 100.0, 1000.0]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 WINNER : </a:t>
            </a:r>
            <a:r>
              <a:rPr lang="en-US" sz="1400" b="1" dirty="0"/>
              <a:t>alpha = 100, Validation MEE = 25.5736</a:t>
            </a:r>
          </a:p>
          <a:p>
            <a:pPr lvl="1"/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59620A-17C9-B92B-4D62-219EEB5DB82E}"/>
              </a:ext>
            </a:extLst>
          </p:cNvPr>
          <p:cNvSpPr txBox="1"/>
          <p:nvPr/>
        </p:nvSpPr>
        <p:spPr>
          <a:xfrm>
            <a:off x="220929" y="2239973"/>
            <a:ext cx="11801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can </a:t>
            </a:r>
            <a:r>
              <a:rPr lang="it-IT" sz="1400" dirty="0" err="1"/>
              <a:t>see</a:t>
            </a:r>
            <a:r>
              <a:rPr lang="it-IT" sz="1400" dirty="0"/>
              <a:t> from </a:t>
            </a:r>
            <a:r>
              <a:rPr lang="it-IT" sz="1400" dirty="0" err="1"/>
              <a:t>these</a:t>
            </a:r>
            <a:r>
              <a:rPr lang="it-IT" sz="1400" dirty="0"/>
              <a:t> </a:t>
            </a:r>
            <a:r>
              <a:rPr lang="it-IT" sz="1400" dirty="0" err="1"/>
              <a:t>results</a:t>
            </a:r>
            <a:r>
              <a:rPr lang="it-IT" sz="1400" dirty="0"/>
              <a:t>, the </a:t>
            </a:r>
            <a:r>
              <a:rPr lang="it-IT" sz="1400" dirty="0" err="1"/>
              <a:t>regularization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improving</a:t>
            </a:r>
            <a:r>
              <a:rPr lang="it-IT" sz="1400" dirty="0"/>
              <a:t> the MEE; </a:t>
            </a:r>
            <a:r>
              <a:rPr lang="it-IT" sz="1400" dirty="0" err="1"/>
              <a:t>this</a:t>
            </a:r>
            <a:r>
              <a:rPr lang="it-IT" sz="1400" dirty="0"/>
              <a:t> makes </a:t>
            </a:r>
            <a:r>
              <a:rPr lang="it-IT" sz="1400" dirty="0" err="1"/>
              <a:t>us</a:t>
            </a:r>
            <a:r>
              <a:rPr lang="it-IT" sz="1400" dirty="0"/>
              <a:t> think </a:t>
            </a:r>
            <a:r>
              <a:rPr lang="it-IT" sz="1400" dirty="0" err="1"/>
              <a:t>about</a:t>
            </a:r>
            <a:r>
              <a:rPr lang="it-IT" sz="1400" dirty="0"/>
              <a:t> : </a:t>
            </a:r>
            <a:r>
              <a:rPr lang="it-IT" sz="1400" b="1" dirty="0" err="1"/>
              <a:t>noise</a:t>
            </a:r>
            <a:r>
              <a:rPr lang="it-IT" sz="1400" b="1" dirty="0"/>
              <a:t> in the data</a:t>
            </a:r>
            <a:r>
              <a:rPr lang="it-IT" sz="1400" dirty="0"/>
              <a:t> or </a:t>
            </a:r>
            <a:r>
              <a:rPr lang="it-IT" sz="1400" b="1" dirty="0" err="1"/>
              <a:t>collinearity</a:t>
            </a:r>
            <a:r>
              <a:rPr lang="it-IT" sz="1400" b="1" dirty="0"/>
              <a:t> </a:t>
            </a:r>
            <a:r>
              <a:rPr lang="it-IT" sz="1400" b="1" dirty="0" err="1"/>
              <a:t>between</a:t>
            </a:r>
            <a:r>
              <a:rPr lang="it-IT" sz="1400" b="1" dirty="0"/>
              <a:t>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So </a:t>
            </a:r>
            <a:r>
              <a:rPr lang="it-IT" sz="1400" dirty="0" err="1"/>
              <a:t>let’s</a:t>
            </a:r>
            <a:r>
              <a:rPr lang="it-IT" sz="1400" dirty="0"/>
              <a:t> do a feature </a:t>
            </a:r>
            <a:r>
              <a:rPr lang="it-IT" sz="1400" dirty="0" err="1"/>
              <a:t>analysis</a:t>
            </a:r>
            <a:r>
              <a:rPr lang="it-IT" sz="1400" dirty="0"/>
              <a:t> to </a:t>
            </a:r>
            <a:r>
              <a:rPr lang="it-IT" sz="1400" dirty="0" err="1"/>
              <a:t>detect</a:t>
            </a:r>
            <a:r>
              <a:rPr lang="it-IT" sz="1400" dirty="0"/>
              <a:t> </a:t>
            </a:r>
            <a:r>
              <a:rPr lang="it-IT" sz="1400" dirty="0" err="1"/>
              <a:t>any</a:t>
            </a:r>
            <a:r>
              <a:rPr lang="it-IT" sz="1400" dirty="0"/>
              <a:t> </a:t>
            </a:r>
            <a:r>
              <a:rPr lang="it-IT" sz="1400" dirty="0" err="1"/>
              <a:t>collinearity</a:t>
            </a:r>
            <a:r>
              <a:rPr lang="it-IT" sz="1400" dirty="0"/>
              <a:t>, </a:t>
            </a:r>
            <a:r>
              <a:rPr lang="it-IT" sz="1400" dirty="0" err="1"/>
              <a:t>Principal</a:t>
            </a:r>
            <a:r>
              <a:rPr lang="it-IT" sz="1400" dirty="0"/>
              <a:t> Components Analysis (PCA) [8]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0194B70-8D83-DCBB-A127-56CC16F50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64" y="3429000"/>
            <a:ext cx="6086910" cy="207776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283A2D9-6D90-1E29-D495-647010CE2F5A}"/>
              </a:ext>
            </a:extLst>
          </p:cNvPr>
          <p:cNvSpPr txBox="1"/>
          <p:nvPr/>
        </p:nvSpPr>
        <p:spPr>
          <a:xfrm>
            <a:off x="6603194" y="3601805"/>
            <a:ext cx="53493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We</a:t>
            </a:r>
            <a:r>
              <a:rPr lang="it-IT" sz="1400" dirty="0"/>
              <a:t> can </a:t>
            </a:r>
            <a:r>
              <a:rPr lang="it-IT" sz="1400" dirty="0" err="1"/>
              <a:t>see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the features </a:t>
            </a:r>
            <a:r>
              <a:rPr lang="it-IT" sz="1400" dirty="0" err="1"/>
              <a:t>have</a:t>
            </a:r>
            <a:r>
              <a:rPr lang="it-IT" sz="1400" dirty="0"/>
              <a:t> a strong </a:t>
            </a:r>
            <a:r>
              <a:rPr lang="it-IT" sz="1400" dirty="0" err="1"/>
              <a:t>collinearity</a:t>
            </a:r>
            <a:r>
              <a:rPr lang="it-IT" sz="1400" dirty="0"/>
              <a:t> :</a:t>
            </a:r>
          </a:p>
          <a:p>
            <a:endParaRPr lang="it-IT" sz="1400" dirty="0"/>
          </a:p>
          <a:p>
            <a:r>
              <a:rPr lang="en-US" sz="1400" dirty="0"/>
              <a:t>The first principal component alone is sufficient to explain over 95% of the variance in the data (input)</a:t>
            </a:r>
          </a:p>
          <a:p>
            <a:endParaRPr lang="en-US" sz="1400" dirty="0"/>
          </a:p>
          <a:p>
            <a:r>
              <a:rPr lang="en-US" sz="1400" dirty="0"/>
              <a:t>However, high variance in the input space does not guarantee high correlation with the target y [9]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B40D160-4751-C8FF-BFF3-CFC06EA6C826}"/>
              </a:ext>
            </a:extLst>
          </p:cNvPr>
          <p:cNvSpPr txBox="1"/>
          <p:nvPr/>
        </p:nvSpPr>
        <p:spPr>
          <a:xfrm>
            <a:off x="432486" y="5609968"/>
            <a:ext cx="11381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the next models (K-NN and SVM), we'll treat the </a:t>
            </a:r>
            <a:r>
              <a:rPr lang="en-US" sz="1600" b="1" dirty="0"/>
              <a:t>number of</a:t>
            </a:r>
            <a:r>
              <a:rPr lang="en-US" sz="1600" dirty="0"/>
              <a:t> PCA components </a:t>
            </a:r>
            <a:r>
              <a:rPr lang="en-US" sz="1600" b="1" dirty="0"/>
              <a:t>as a hyperparameter</a:t>
            </a:r>
            <a:r>
              <a:rPr lang="en-US" sz="1600" dirty="0"/>
              <a:t> in the grid search.</a:t>
            </a:r>
          </a:p>
          <a:p>
            <a:endParaRPr lang="en-US" sz="1600" dirty="0"/>
          </a:p>
          <a:p>
            <a:r>
              <a:rPr lang="en-US" sz="1600" dirty="0"/>
              <a:t>We thought it could be useful for the </a:t>
            </a:r>
            <a:r>
              <a:rPr lang="en-US" sz="1600" b="1" dirty="0"/>
              <a:t>Curse of Dimensionality</a:t>
            </a:r>
            <a:r>
              <a:rPr lang="en-US" sz="1600" dirty="0"/>
              <a:t> (Especially for K-NN).</a:t>
            </a:r>
            <a:endParaRPr lang="it-IT" sz="16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76C805-F25A-3248-853B-35BB748DC670}"/>
              </a:ext>
            </a:extLst>
          </p:cNvPr>
          <p:cNvSpPr txBox="1"/>
          <p:nvPr/>
        </p:nvSpPr>
        <p:spPr>
          <a:xfrm>
            <a:off x="11651827" y="0"/>
            <a:ext cx="60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1809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BA74-D788-FB5B-8EF0-F7806A59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5F00A8-3F1A-8AD5-EEB4-6C1B219A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– K-NN and SVM 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248F681-54D5-FE8F-C505-3DFC1D231DFE}"/>
              </a:ext>
            </a:extLst>
          </p:cNvPr>
          <p:cNvSpPr txBox="1"/>
          <p:nvPr/>
        </p:nvSpPr>
        <p:spPr>
          <a:xfrm>
            <a:off x="220929" y="724156"/>
            <a:ext cx="1160490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can </a:t>
            </a:r>
            <a:r>
              <a:rPr lang="it-IT" sz="1400" dirty="0" err="1"/>
              <a:t>see</a:t>
            </a:r>
            <a:r>
              <a:rPr lang="it-IT" sz="1400" dirty="0"/>
              <a:t> from the </a:t>
            </a:r>
            <a:r>
              <a:rPr lang="it-IT" sz="1400" dirty="0" err="1"/>
              <a:t>results</a:t>
            </a:r>
            <a:r>
              <a:rPr lang="it-IT" sz="1400" dirty="0"/>
              <a:t> of the </a:t>
            </a:r>
            <a:r>
              <a:rPr lang="it-IT" sz="1400" dirty="0" err="1"/>
              <a:t>previous</a:t>
            </a:r>
            <a:r>
              <a:rPr lang="it-IT" sz="1400" dirty="0"/>
              <a:t> slide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need</a:t>
            </a:r>
            <a:r>
              <a:rPr lang="it-IT" sz="1400" dirty="0"/>
              <a:t> to </a:t>
            </a:r>
            <a:r>
              <a:rPr lang="it-IT" sz="1400" dirty="0" err="1"/>
              <a:t>add</a:t>
            </a:r>
            <a:r>
              <a:rPr lang="it-IT" sz="1400" dirty="0"/>
              <a:t> </a:t>
            </a:r>
            <a:r>
              <a:rPr lang="it-IT" sz="1400" b="1" dirty="0"/>
              <a:t>non-</a:t>
            </a:r>
            <a:r>
              <a:rPr lang="it-IT" sz="1400" b="1" dirty="0" err="1"/>
              <a:t>linearity</a:t>
            </a:r>
            <a:r>
              <a:rPr lang="it-IT" sz="1400" dirty="0"/>
              <a:t> to </a:t>
            </a:r>
            <a:r>
              <a:rPr lang="it-IT" sz="1400" dirty="0" err="1"/>
              <a:t>our</a:t>
            </a:r>
            <a:r>
              <a:rPr lang="it-IT" sz="1400" dirty="0"/>
              <a:t> project: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So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decided</a:t>
            </a:r>
            <a:r>
              <a:rPr lang="it-IT" sz="1400" dirty="0"/>
              <a:t> to test </a:t>
            </a:r>
            <a:r>
              <a:rPr lang="it-IT" sz="1400" dirty="0" err="1"/>
              <a:t>at</a:t>
            </a:r>
            <a:r>
              <a:rPr lang="it-IT" sz="1400" dirty="0"/>
              <a:t> first K-NN and SVM , </a:t>
            </a:r>
            <a:r>
              <a:rPr lang="it-IT" sz="1400" dirty="0" err="1"/>
              <a:t>tested</a:t>
            </a:r>
            <a:r>
              <a:rPr lang="it-IT" sz="1400" dirty="0"/>
              <a:t> for </a:t>
            </a:r>
            <a:r>
              <a:rPr lang="it-IT" sz="1400" dirty="0" err="1"/>
              <a:t>all</a:t>
            </a:r>
            <a:r>
              <a:rPr lang="it-IT" sz="1400" dirty="0"/>
              <a:t> the </a:t>
            </a:r>
            <a:r>
              <a:rPr lang="it-IT" sz="1400" dirty="0" err="1"/>
              <a:t>possible</a:t>
            </a:r>
            <a:r>
              <a:rPr lang="it-IT" sz="1400" dirty="0"/>
              <a:t> </a:t>
            </a:r>
            <a:r>
              <a:rPr lang="it-IT" sz="1400" dirty="0" err="1"/>
              <a:t>numbers</a:t>
            </a:r>
            <a:r>
              <a:rPr lang="it-IT" sz="1400" dirty="0"/>
              <a:t> for PCA </a:t>
            </a:r>
            <a:r>
              <a:rPr lang="it-IT" sz="1400" dirty="0" err="1"/>
              <a:t>components</a:t>
            </a:r>
            <a:r>
              <a:rPr lang="it-IT" sz="1400" dirty="0"/>
              <a:t> [1, 12]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K-NN</a:t>
            </a:r>
            <a:r>
              <a:rPr lang="it-IT" sz="1400" dirty="0"/>
              <a:t>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sz="1400" dirty="0"/>
              <a:t>k_values = [3, 4, 5, 7, 10, 15, 20, 30]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weight_options</a:t>
            </a:r>
            <a:r>
              <a:rPr lang="it-IT" sz="1400" dirty="0"/>
              <a:t> = ['</a:t>
            </a:r>
            <a:r>
              <a:rPr lang="it-IT" sz="1400" dirty="0" err="1"/>
              <a:t>uniform</a:t>
            </a:r>
            <a:r>
              <a:rPr lang="it-IT" sz="1400" dirty="0"/>
              <a:t>', '</a:t>
            </a:r>
            <a:r>
              <a:rPr lang="it-IT" sz="1400" dirty="0" err="1"/>
              <a:t>distance</a:t>
            </a:r>
            <a:r>
              <a:rPr lang="it-IT" sz="1400" dirty="0"/>
              <a:t>’]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WINNER</a:t>
            </a:r>
            <a:r>
              <a:rPr lang="it-IT" sz="1400" dirty="0"/>
              <a:t> 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PCA_Components</a:t>
            </a:r>
            <a:r>
              <a:rPr lang="it-IT" sz="1400" b="1" dirty="0"/>
              <a:t> = 6 , K = 3, Weight = ‘</a:t>
            </a:r>
            <a:r>
              <a:rPr lang="it-IT" sz="1400" b="1" dirty="0" err="1"/>
              <a:t>distance</a:t>
            </a:r>
            <a:r>
              <a:rPr lang="it-IT" sz="1400" dirty="0"/>
              <a:t>’ </a:t>
            </a:r>
            <a:r>
              <a:rPr lang="it-IT" sz="1400" dirty="0">
                <a:sym typeface="Wingdings" panose="05000000000000000000" pitchFamily="2" charset="2"/>
              </a:rPr>
              <a:t> </a:t>
            </a:r>
            <a:r>
              <a:rPr lang="it-IT" sz="1400" b="1" dirty="0" err="1">
                <a:sym typeface="Wingdings" panose="05000000000000000000" pitchFamily="2" charset="2"/>
              </a:rPr>
              <a:t>Validation</a:t>
            </a:r>
            <a:r>
              <a:rPr lang="it-IT" sz="1400" b="1" dirty="0">
                <a:sym typeface="Wingdings" panose="05000000000000000000" pitchFamily="2" charset="2"/>
              </a:rPr>
              <a:t> MEE : </a:t>
            </a:r>
            <a:r>
              <a:rPr lang="it-IT" sz="1400" b="1" dirty="0"/>
              <a:t> 15.1070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SVM (SVR) </a:t>
            </a:r>
            <a:r>
              <a:rPr lang="it-IT" sz="1400" dirty="0"/>
              <a:t>: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tested</a:t>
            </a:r>
            <a:r>
              <a:rPr lang="it-IT" sz="1400" dirty="0"/>
              <a:t> the </a:t>
            </a:r>
            <a:r>
              <a:rPr lang="it-IT" sz="1400" dirty="0" err="1"/>
              <a:t>exact</a:t>
            </a:r>
            <a:r>
              <a:rPr lang="it-IT" sz="1400" dirty="0"/>
              <a:t> 4 Kernel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used</a:t>
            </a:r>
            <a:r>
              <a:rPr lang="it-IT" sz="1400" dirty="0"/>
              <a:t> for </a:t>
            </a:r>
            <a:r>
              <a:rPr lang="it-IT" sz="1400" dirty="0" err="1"/>
              <a:t>MONKs</a:t>
            </a:r>
            <a:r>
              <a:rPr lang="it-IT" sz="1400" dirty="0"/>
              <a:t> datasets (Linear, RBF, </a:t>
            </a:r>
            <a:r>
              <a:rPr lang="it-IT" sz="1400" dirty="0" err="1"/>
              <a:t>Polynomial</a:t>
            </a:r>
            <a:r>
              <a:rPr lang="it-IT" sz="1400" dirty="0"/>
              <a:t> and </a:t>
            </a:r>
            <a:r>
              <a:rPr lang="en-US" sz="1400" dirty="0"/>
              <a:t>Two-layer perceptron):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Linear : C = </a:t>
            </a:r>
            <a:r>
              <a:rPr lang="it-IT" sz="1400" dirty="0"/>
              <a:t>[0.01, 0.1, 1, 10, 100]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RBF : C = </a:t>
            </a:r>
            <a:r>
              <a:rPr lang="it-IT" sz="1400" dirty="0"/>
              <a:t>[1, 2, 3, 4, 5, 6, 7, 8, 9, 10], gamma = ['scale', 1, 2, 3, 5, 10, 100, 1000]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Polynomial : Degree = [1, 2, 3, 4], C = [0.1, 1, 10], coef0 = [0, 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Two-layer perceptron : C = [0.1, 1, 10], coef0 = [0,1]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WINNER</a:t>
            </a:r>
            <a:r>
              <a:rPr lang="en-US" sz="1400" dirty="0"/>
              <a:t> 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PCA_Components</a:t>
            </a:r>
            <a:r>
              <a:rPr lang="en-US" sz="1400" b="1" dirty="0"/>
              <a:t> = 4, Kernel = RBF, C = 3, gamma = 3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b="1" dirty="0">
                <a:sym typeface="Wingdings" panose="05000000000000000000" pitchFamily="2" charset="2"/>
              </a:rPr>
              <a:t>Validation MEE : 15.5959</a:t>
            </a:r>
            <a:endParaRPr lang="it-IT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D3F671A-AC6A-A12B-3E64-AF07DE2E5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38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B785B4-B5DF-C671-B434-7538C14D5548}"/>
              </a:ext>
            </a:extLst>
          </p:cNvPr>
          <p:cNvSpPr txBox="1"/>
          <p:nvPr/>
        </p:nvSpPr>
        <p:spPr>
          <a:xfrm>
            <a:off x="11725595" y="6137"/>
            <a:ext cx="46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5512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8EDD-79E2-50EA-71D0-6E2B5310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A98B25-CF4C-848D-FB48-A19813AA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– MLP 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BDFC7F-33D2-A207-7638-6C38C9D6E61B}"/>
              </a:ext>
            </a:extLst>
          </p:cNvPr>
          <p:cNvSpPr txBox="1"/>
          <p:nvPr/>
        </p:nvSpPr>
        <p:spPr>
          <a:xfrm>
            <a:off x="92053" y="620611"/>
            <a:ext cx="1142079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As for the Neural Network, we decided to carry out a series of medium-sized </a:t>
            </a:r>
            <a:r>
              <a:rPr lang="en-US" sz="1400" dirty="0" err="1"/>
              <a:t>gridsearches</a:t>
            </a:r>
            <a:r>
              <a:rPr lang="en-US" sz="1400" dirty="0"/>
              <a:t> (a few hundred configurations at a time), so as not to have too long execution times, and then go on to </a:t>
            </a:r>
            <a:r>
              <a:rPr lang="en-US" sz="1400" dirty="0" err="1"/>
              <a:t>analyse</a:t>
            </a:r>
            <a:r>
              <a:rPr lang="en-US" sz="1400" dirty="0"/>
              <a:t> the best results obtained and understand where to move for the next </a:t>
            </a:r>
            <a:r>
              <a:rPr lang="en-US" sz="1400" dirty="0" err="1"/>
              <a:t>gridsearch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NOTE</a:t>
            </a:r>
            <a:r>
              <a:rPr lang="en-US" sz="1400" dirty="0"/>
              <a:t> : Here we kept all the features for computational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0B26388-76E6-8544-965C-443553F9F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3552"/>
            <a:ext cx="5212213" cy="293187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B173259-BAF5-C80C-9D5A-BA001D66C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787" y="1793552"/>
            <a:ext cx="5212213" cy="293187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7E99682-E72E-E9D4-EC99-56D1BE40882C}"/>
              </a:ext>
            </a:extLst>
          </p:cNvPr>
          <p:cNvSpPr txBox="1"/>
          <p:nvPr/>
        </p:nvSpPr>
        <p:spPr>
          <a:xfrm>
            <a:off x="312983" y="1478996"/>
            <a:ext cx="440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Winner of the first </a:t>
            </a:r>
            <a:r>
              <a:rPr lang="it-IT" b="1" dirty="0" err="1"/>
              <a:t>gridsearch</a:t>
            </a:r>
            <a:r>
              <a:rPr lang="it-IT" b="1" dirty="0"/>
              <a:t> :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48AE20-C641-DEFD-52BD-991E7FF9F491}"/>
              </a:ext>
            </a:extLst>
          </p:cNvPr>
          <p:cNvSpPr txBox="1"/>
          <p:nvPr/>
        </p:nvSpPr>
        <p:spPr>
          <a:xfrm>
            <a:off x="7855248" y="1478996"/>
            <a:ext cx="424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Winner of the last </a:t>
            </a:r>
            <a:r>
              <a:rPr lang="it-IT" b="1" dirty="0" err="1"/>
              <a:t>gridsearch</a:t>
            </a:r>
            <a:r>
              <a:rPr lang="it-IT" b="1" dirty="0"/>
              <a:t> :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5BB95703-08FE-FEEB-1C7F-6E2DDA1FB0DC}"/>
              </a:ext>
            </a:extLst>
          </p:cNvPr>
          <p:cNvSpPr/>
          <p:nvPr/>
        </p:nvSpPr>
        <p:spPr>
          <a:xfrm>
            <a:off x="5341160" y="2817630"/>
            <a:ext cx="1509680" cy="441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77D7D1A-731A-6ADE-DBF6-541E490C200A}"/>
              </a:ext>
            </a:extLst>
          </p:cNvPr>
          <p:cNvSpPr txBox="1"/>
          <p:nvPr/>
        </p:nvSpPr>
        <p:spPr>
          <a:xfrm>
            <a:off x="141148" y="4929894"/>
            <a:ext cx="116049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most relevant aspects that we were able to observe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A </a:t>
            </a:r>
            <a:r>
              <a:rPr lang="it-IT" dirty="0" err="1"/>
              <a:t>little</a:t>
            </a:r>
            <a:r>
              <a:rPr lang="it-IT" dirty="0"/>
              <a:t> </a:t>
            </a:r>
            <a:r>
              <a:rPr lang="it-IT" dirty="0" err="1"/>
              <a:t>dimension</a:t>
            </a:r>
            <a:r>
              <a:rPr lang="it-IT" dirty="0"/>
              <a:t> of the batch </a:t>
            </a:r>
            <a:r>
              <a:rPr lang="it-IT" dirty="0" err="1"/>
              <a:t>seems</a:t>
            </a:r>
            <a:r>
              <a:rPr lang="it-IT" dirty="0"/>
              <a:t> to be </a:t>
            </a:r>
            <a:r>
              <a:rPr lang="it-IT" dirty="0" err="1"/>
              <a:t>generally</a:t>
            </a:r>
            <a:r>
              <a:rPr lang="it-IT" dirty="0"/>
              <a:t> </a:t>
            </a:r>
            <a:r>
              <a:rPr lang="it-IT" dirty="0" err="1"/>
              <a:t>preferred</a:t>
            </a:r>
            <a:r>
              <a:rPr lang="it-IT" dirty="0"/>
              <a:t> to </a:t>
            </a:r>
            <a:r>
              <a:rPr lang="it-IT" dirty="0" err="1"/>
              <a:t>minimize</a:t>
            </a:r>
            <a:r>
              <a:rPr lang="it-IT" dirty="0"/>
              <a:t> MEE (</a:t>
            </a:r>
            <a:r>
              <a:rPr lang="it-IT" b="1" dirty="0" err="1"/>
              <a:t>batch_size</a:t>
            </a:r>
            <a:r>
              <a:rPr lang="it-IT" b="1" dirty="0"/>
              <a:t> = 32</a:t>
            </a:r>
            <a:r>
              <a:rPr lang="it-I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GeLU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by far the best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(</a:t>
            </a:r>
            <a:r>
              <a:rPr lang="it-IT" dirty="0" err="1"/>
              <a:t>We’ve</a:t>
            </a:r>
            <a:r>
              <a:rPr lang="it-IT" dirty="0"/>
              <a:t> </a:t>
            </a:r>
            <a:r>
              <a:rPr lang="it-IT" dirty="0" err="1"/>
              <a:t>tested</a:t>
            </a:r>
            <a:r>
              <a:rPr lang="it-IT" dirty="0"/>
              <a:t> Tanh, </a:t>
            </a:r>
            <a:r>
              <a:rPr lang="it-IT" dirty="0" err="1"/>
              <a:t>ReLU</a:t>
            </a:r>
            <a:r>
              <a:rPr lang="it-IT" dirty="0"/>
              <a:t>, GeLU, </a:t>
            </a:r>
            <a:r>
              <a:rPr lang="it-IT" dirty="0" err="1"/>
              <a:t>SeLU</a:t>
            </a:r>
            <a:r>
              <a:rPr lang="it-IT" dirty="0"/>
              <a:t>, </a:t>
            </a:r>
            <a:r>
              <a:rPr lang="it-IT" dirty="0" err="1"/>
              <a:t>eLU</a:t>
            </a:r>
            <a:r>
              <a:rPr lang="it-I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noticed</a:t>
            </a:r>
            <a:r>
              <a:rPr lang="it-IT" dirty="0"/>
              <a:t> a general </a:t>
            </a:r>
            <a:r>
              <a:rPr lang="it-IT" dirty="0" err="1"/>
              <a:t>improvement</a:t>
            </a:r>
            <a:r>
              <a:rPr lang="it-IT" dirty="0"/>
              <a:t> for MEE switching from ‘</a:t>
            </a:r>
            <a:r>
              <a:rPr lang="it-IT" b="1" dirty="0" err="1"/>
              <a:t>ReduceLROnPlateau</a:t>
            </a:r>
            <a:r>
              <a:rPr lang="it-IT" dirty="0"/>
              <a:t>’ to ‘</a:t>
            </a:r>
            <a:r>
              <a:rPr lang="it-IT" b="1" dirty="0" err="1"/>
              <a:t>CosineAnnealing</a:t>
            </a:r>
            <a:r>
              <a:rPr lang="it-IT" dirty="0"/>
              <a:t>’ [10]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‘</a:t>
            </a:r>
            <a:r>
              <a:rPr lang="it-IT" b="1" dirty="0"/>
              <a:t>Adam</a:t>
            </a:r>
            <a:r>
              <a:rPr lang="it-IT" dirty="0"/>
              <a:t>’ [11] and ‘</a:t>
            </a:r>
            <a:r>
              <a:rPr lang="it-IT" b="1" dirty="0" err="1"/>
              <a:t>Adamw</a:t>
            </a:r>
            <a:r>
              <a:rPr lang="it-IT" dirty="0"/>
              <a:t>’ [12] </a:t>
            </a:r>
            <a:r>
              <a:rPr lang="it-IT" dirty="0" err="1"/>
              <a:t>were</a:t>
            </a:r>
            <a:r>
              <a:rPr lang="it-IT" dirty="0"/>
              <a:t> the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optimizer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performed</a:t>
            </a:r>
            <a:r>
              <a:rPr lang="it-IT" dirty="0"/>
              <a:t> the best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8284AC4-E3AA-BB05-23C7-B0C69D5B89D1}"/>
              </a:ext>
            </a:extLst>
          </p:cNvPr>
          <p:cNvSpPr txBox="1"/>
          <p:nvPr/>
        </p:nvSpPr>
        <p:spPr>
          <a:xfrm>
            <a:off x="11694910" y="6136"/>
            <a:ext cx="49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71429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D79D-155D-C437-DDD9-E5F59721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CE572B-6D1F-2EE2-4113-6DE62517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– </a:t>
            </a:r>
            <a:r>
              <a:rPr lang="it-IT" b="1" dirty="0" err="1"/>
              <a:t>Ensembling</a:t>
            </a:r>
            <a:r>
              <a:rPr lang="it-IT" b="1" dirty="0"/>
              <a:t> (I)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E1A4D383-DC51-AE1F-5D13-AA48567CEF45}"/>
                  </a:ext>
                </a:extLst>
              </p:cNvPr>
              <p:cNvSpPr txBox="1"/>
              <p:nvPr/>
            </p:nvSpPr>
            <p:spPr>
              <a:xfrm>
                <a:off x="184107" y="681037"/>
                <a:ext cx="11807421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The biggest problem that seemed to occur in all our best configurations was the presence of a large gap between the MEE values ​​for Training and Validation.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Given our difficulty in mitigating the problem by tuning the hyperparameters we thought to try the </a:t>
                </a:r>
                <a:r>
                  <a:rPr lang="en-US" sz="1400" b="1" dirty="0"/>
                  <a:t>Ensemble technique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We’ll test 3 different type of ensemble, each one with an higher level of heterogeneity between the models, hoping also to minimize the error following the </a:t>
                </a:r>
                <a:r>
                  <a:rPr lang="it-IT" sz="1400" b="1" dirty="0"/>
                  <a:t>Krogh-Vedelsby Equation</a:t>
                </a:r>
                <a:r>
                  <a:rPr lang="it-IT" sz="1400" dirty="0"/>
                  <a:t> [13] 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𝒆𝒏𝒔𝒆𝒎𝒃𝒍𝒆</m:t>
                        </m:r>
                      </m:sub>
                    </m:sSub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endParaRPr lang="it-IT" sz="1400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it-IT" sz="1400" b="1" dirty="0"/>
                  <a:t> </a:t>
                </a:r>
                <a:r>
                  <a:rPr lang="it-IT" sz="1400" dirty="0">
                    <a:sym typeface="Wingdings" panose="05000000000000000000" pitchFamily="2" charset="2"/>
                  </a:rPr>
                  <a:t></a:t>
                </a:r>
                <a:r>
                  <a:rPr lang="it-IT" sz="1400" dirty="0"/>
                  <a:t> </a:t>
                </a:r>
                <a:r>
                  <a:rPr lang="it-IT" sz="1400" dirty="0" err="1"/>
                  <a:t>Average</a:t>
                </a:r>
                <a:r>
                  <a:rPr lang="it-IT" sz="1400" dirty="0"/>
                  <a:t> Error of the </a:t>
                </a:r>
                <a:r>
                  <a:rPr lang="it-IT" sz="1400" dirty="0" err="1"/>
                  <a:t>selected</a:t>
                </a:r>
                <a:r>
                  <a:rPr lang="it-IT" sz="1400" dirty="0"/>
                  <a:t> models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sz="1400" dirty="0"/>
                  <a:t> </a:t>
                </a:r>
                <a:r>
                  <a:rPr lang="it-IT" sz="1400" dirty="0">
                    <a:sym typeface="Wingdings" panose="05000000000000000000" pitchFamily="2" charset="2"/>
                  </a:rPr>
                  <a:t></a:t>
                </a:r>
                <a:r>
                  <a:rPr lang="it-IT" sz="1400" dirty="0"/>
                  <a:t> </a:t>
                </a:r>
                <a:r>
                  <a:rPr lang="it-IT" sz="1400" dirty="0" err="1"/>
                  <a:t>Ambiguity</a:t>
                </a:r>
                <a:r>
                  <a:rPr lang="it-IT" sz="1400" dirty="0"/>
                  <a:t>, </a:t>
                </a:r>
                <a:r>
                  <a:rPr lang="it-IT" sz="1400" dirty="0" err="1"/>
                  <a:t>Variance</a:t>
                </a:r>
                <a:r>
                  <a:rPr lang="it-IT" sz="1400" dirty="0"/>
                  <a:t> </a:t>
                </a:r>
                <a:r>
                  <a:rPr lang="it-IT" sz="1400" dirty="0" err="1"/>
                  <a:t>between</a:t>
                </a:r>
                <a:r>
                  <a:rPr lang="it-IT" sz="1400" dirty="0"/>
                  <a:t> the </a:t>
                </a:r>
                <a:r>
                  <a:rPr lang="it-IT" sz="1400" dirty="0" err="1"/>
                  <a:t>predictions</a:t>
                </a:r>
                <a:r>
                  <a:rPr lang="it-IT" sz="1400" dirty="0"/>
                  <a:t> of </a:t>
                </a:r>
                <a:r>
                  <a:rPr lang="it-IT" sz="1400" dirty="0" err="1"/>
                  <a:t>each</a:t>
                </a:r>
                <a:r>
                  <a:rPr lang="it-IT" sz="1400" dirty="0"/>
                  <a:t> single models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b="1" dirty="0"/>
                  <a:t>1 – </a:t>
                </a:r>
                <a:r>
                  <a:rPr lang="it-IT" sz="1400" b="1" dirty="0" err="1"/>
                  <a:t>Multiseed</a:t>
                </a:r>
                <a:r>
                  <a:rPr lang="it-IT" sz="1400" b="1" dirty="0"/>
                  <a:t> Ensemble </a:t>
                </a:r>
                <a:r>
                  <a:rPr lang="it-IT" sz="14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dirty="0" err="1"/>
                  <a:t>We</a:t>
                </a:r>
                <a:r>
                  <a:rPr lang="it-IT" sz="1400" dirty="0"/>
                  <a:t> </a:t>
                </a:r>
                <a:r>
                  <a:rPr lang="it-IT" sz="1400" dirty="0" err="1"/>
                  <a:t>took</a:t>
                </a:r>
                <a:r>
                  <a:rPr lang="it-IT" sz="1400" dirty="0"/>
                  <a:t> the </a:t>
                </a:r>
                <a:r>
                  <a:rPr lang="it-IT" sz="1400" dirty="0" err="1"/>
                  <a:t>winning</a:t>
                </a:r>
                <a:r>
                  <a:rPr lang="it-IT" sz="1400" dirty="0"/>
                  <a:t> </a:t>
                </a:r>
                <a:r>
                  <a:rPr lang="it-IT" sz="1400" dirty="0" err="1"/>
                  <a:t>configuration</a:t>
                </a:r>
                <a:r>
                  <a:rPr lang="it-IT" sz="1400" dirty="0"/>
                  <a:t> of the last </a:t>
                </a:r>
                <a:r>
                  <a:rPr lang="it-IT" sz="1400" dirty="0" err="1"/>
                  <a:t>gridsearch</a:t>
                </a:r>
                <a:r>
                  <a:rPr lang="it-IT" sz="1400" dirty="0"/>
                  <a:t> (</a:t>
                </a:r>
                <a:r>
                  <a:rPr lang="it-IT" sz="1400" dirty="0" err="1"/>
                  <a:t>shown</a:t>
                </a:r>
                <a:r>
                  <a:rPr lang="it-IT" sz="1400" dirty="0"/>
                  <a:t> in the </a:t>
                </a:r>
                <a:r>
                  <a:rPr lang="it-IT" sz="1400" dirty="0" err="1"/>
                  <a:t>previous</a:t>
                </a:r>
                <a:r>
                  <a:rPr lang="it-IT" sz="1400" dirty="0"/>
                  <a:t> slide)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Architecture = [256, 256, 128]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Learning Rate = 0.02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 err="1"/>
                  <a:t>Optimizer</a:t>
                </a:r>
                <a:r>
                  <a:rPr lang="it-IT" sz="1400" dirty="0"/>
                  <a:t> = </a:t>
                </a:r>
                <a:r>
                  <a:rPr lang="it-IT" sz="1400" dirty="0" err="1"/>
                  <a:t>AdamW</a:t>
                </a:r>
                <a:endParaRPr lang="it-IT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Dropout = 0.1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Batch Size = 32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it-IT" sz="1400" b="1" dirty="0"/>
                  <a:t>Training MEE : 12.7415 |</a:t>
                </a:r>
                <a:r>
                  <a:rPr lang="it-IT" sz="1400" b="1" dirty="0">
                    <a:sym typeface="Wingdings" panose="05000000000000000000" pitchFamily="2" charset="2"/>
                  </a:rPr>
                  <a:t> </a:t>
                </a:r>
                <a:r>
                  <a:rPr lang="it-IT" sz="1400" b="1" dirty="0" err="1">
                    <a:sym typeface="Wingdings" panose="05000000000000000000" pitchFamily="2" charset="2"/>
                  </a:rPr>
                  <a:t>Validation</a:t>
                </a:r>
                <a:r>
                  <a:rPr lang="it-IT" sz="1400" b="1" dirty="0">
                    <a:sym typeface="Wingdings" panose="05000000000000000000" pitchFamily="2" charset="2"/>
                  </a:rPr>
                  <a:t> MEE : 18.0583  Gap = 5.3168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And we did an ensemble over 5 different seeds : </a:t>
                </a:r>
                <a:r>
                  <a:rPr lang="it-IT" sz="1400" dirty="0"/>
                  <a:t>[42, 123, 456, 789, 2024]</a:t>
                </a:r>
                <a:endParaRPr lang="en-US" sz="1400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E1A4D383-DC51-AE1F-5D13-AA48567CE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07" y="681037"/>
                <a:ext cx="11807421" cy="4247317"/>
              </a:xfrm>
              <a:prstGeom prst="rect">
                <a:avLst/>
              </a:prstGeom>
              <a:blipFill>
                <a:blip r:embed="rId2"/>
                <a:stretch>
                  <a:fillRect l="-52" t="-4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54C76586-967F-2EBC-CC14-947504726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148" y="4739252"/>
            <a:ext cx="5105662" cy="171458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F0024E-535F-312E-EB3A-6E3139D63C6A}"/>
              </a:ext>
            </a:extLst>
          </p:cNvPr>
          <p:cNvSpPr txBox="1"/>
          <p:nvPr/>
        </p:nvSpPr>
        <p:spPr>
          <a:xfrm>
            <a:off x="184107" y="4739252"/>
            <a:ext cx="636193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The </a:t>
            </a:r>
            <a:r>
              <a:rPr lang="it-IT" sz="1400" dirty="0" err="1"/>
              <a:t>results</a:t>
            </a:r>
            <a:r>
              <a:rPr lang="it-IT" sz="1400" dirty="0"/>
              <a:t> of the </a:t>
            </a:r>
            <a:r>
              <a:rPr lang="it-IT" sz="1400" dirty="0" err="1"/>
              <a:t>configuration</a:t>
            </a:r>
            <a:r>
              <a:rPr lang="it-IT" sz="1400" dirty="0"/>
              <a:t> </a:t>
            </a:r>
            <a:r>
              <a:rPr lang="it-IT" sz="1400" dirty="0" err="1"/>
              <a:t>came</a:t>
            </a:r>
            <a:r>
              <a:rPr lang="it-IT" sz="1400" dirty="0"/>
              <a:t> from a ‘</a:t>
            </a:r>
            <a:r>
              <a:rPr lang="it-IT" sz="1400" dirty="0" err="1"/>
              <a:t>lucky</a:t>
            </a:r>
            <a:r>
              <a:rPr lang="it-IT" sz="1400" dirty="0"/>
              <a:t> </a:t>
            </a:r>
            <a:r>
              <a:rPr lang="it-IT" sz="1400" dirty="0" err="1"/>
              <a:t>seed</a:t>
            </a:r>
            <a:r>
              <a:rPr lang="it-IT" sz="1400" dirty="0"/>
              <a:t>’,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also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the </a:t>
            </a:r>
            <a:r>
              <a:rPr lang="it-IT" sz="1400" dirty="0" err="1"/>
              <a:t>reason</a:t>
            </a:r>
            <a:r>
              <a:rPr lang="it-IT" sz="1400" dirty="0"/>
              <a:t> </a:t>
            </a:r>
            <a:r>
              <a:rPr lang="it-IT" sz="1400" dirty="0" err="1"/>
              <a:t>why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didn’t</a:t>
            </a:r>
            <a:r>
              <a:rPr lang="it-IT" sz="1400" dirty="0"/>
              <a:t> </a:t>
            </a:r>
            <a:r>
              <a:rPr lang="it-IT" sz="1400" dirty="0" err="1"/>
              <a:t>reach</a:t>
            </a:r>
            <a:r>
              <a:rPr lang="it-IT" sz="1400" dirty="0"/>
              <a:t> a </a:t>
            </a:r>
            <a:r>
              <a:rPr lang="it-IT" sz="1400" dirty="0" err="1"/>
              <a:t>lower</a:t>
            </a:r>
            <a:r>
              <a:rPr lang="it-IT" sz="1400" dirty="0"/>
              <a:t> MEE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At the </a:t>
            </a:r>
            <a:r>
              <a:rPr lang="it-IT" sz="1400" dirty="0" err="1"/>
              <a:t>same</a:t>
            </a:r>
            <a:r>
              <a:rPr lang="it-IT" sz="1400" dirty="0"/>
              <a:t> time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found</a:t>
            </a:r>
            <a:r>
              <a:rPr lang="it-IT" sz="1400" dirty="0"/>
              <a:t> a model </a:t>
            </a:r>
            <a:r>
              <a:rPr lang="it-IT" sz="1400" dirty="0" err="1"/>
              <a:t>better</a:t>
            </a:r>
            <a:r>
              <a:rPr lang="it-IT" sz="1400" dirty="0"/>
              <a:t> </a:t>
            </a:r>
            <a:r>
              <a:rPr lang="it-IT" sz="1400" dirty="0" err="1"/>
              <a:t>then</a:t>
            </a:r>
            <a:r>
              <a:rPr lang="it-IT" sz="1400" dirty="0"/>
              <a:t> the </a:t>
            </a:r>
            <a:r>
              <a:rPr lang="it-IT" sz="1400" dirty="0" err="1"/>
              <a:t>other</a:t>
            </a:r>
            <a:r>
              <a:rPr lang="it-IT" sz="1400" dirty="0"/>
              <a:t> 4 </a:t>
            </a:r>
            <a:r>
              <a:rPr lang="it-IT" sz="1400" dirty="0" err="1"/>
              <a:t>seeds</a:t>
            </a: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But </a:t>
            </a:r>
            <a:r>
              <a:rPr lang="it-IT" sz="1400" dirty="0" err="1"/>
              <a:t>if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want</a:t>
            </a:r>
            <a:r>
              <a:rPr lang="it-IT" sz="1400" dirty="0"/>
              <a:t> to compare the </a:t>
            </a:r>
            <a:r>
              <a:rPr lang="it-IT" sz="1400" dirty="0" err="1"/>
              <a:t>seed</a:t>
            </a:r>
            <a:r>
              <a:rPr lang="it-IT" sz="1400" dirty="0"/>
              <a:t> 42’s </a:t>
            </a:r>
            <a:r>
              <a:rPr lang="it-IT" sz="1400" dirty="0" err="1"/>
              <a:t>result</a:t>
            </a:r>
            <a:r>
              <a:rPr lang="it-IT" sz="1400" dirty="0"/>
              <a:t> with </a:t>
            </a:r>
            <a:r>
              <a:rPr lang="it-IT" sz="1400" dirty="0" err="1"/>
              <a:t>this</a:t>
            </a:r>
            <a:r>
              <a:rPr lang="it-IT" sz="1400" dirty="0"/>
              <a:t>, </a:t>
            </a:r>
            <a:r>
              <a:rPr lang="it-IT" sz="1400" dirty="0" err="1"/>
              <a:t>we</a:t>
            </a:r>
            <a:r>
              <a:rPr lang="it-IT" sz="1400" dirty="0"/>
              <a:t> can </a:t>
            </a:r>
            <a:r>
              <a:rPr lang="it-IT" sz="1400" dirty="0" err="1"/>
              <a:t>say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found</a:t>
            </a:r>
            <a:r>
              <a:rPr lang="it-IT" sz="1400" dirty="0"/>
              <a:t> a more </a:t>
            </a:r>
            <a:r>
              <a:rPr lang="it-IT" sz="1400" dirty="0" err="1"/>
              <a:t>stable</a:t>
            </a:r>
            <a:r>
              <a:rPr lang="it-IT" sz="1400" dirty="0"/>
              <a:t> model (</a:t>
            </a: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can </a:t>
            </a:r>
            <a:r>
              <a:rPr lang="it-IT" sz="1400" dirty="0" err="1"/>
              <a:t>see</a:t>
            </a:r>
            <a:r>
              <a:rPr lang="it-IT" sz="1400" dirty="0"/>
              <a:t> from the Standard </a:t>
            </a:r>
            <a:r>
              <a:rPr lang="it-IT" sz="1400" dirty="0" err="1"/>
              <a:t>Deviation</a:t>
            </a:r>
            <a:r>
              <a:rPr lang="it-IT" sz="1400" dirty="0"/>
              <a:t>),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also</a:t>
            </a:r>
            <a:r>
              <a:rPr lang="it-IT" sz="1400" dirty="0"/>
              <a:t> reduce the gap </a:t>
            </a:r>
            <a:r>
              <a:rPr lang="it-IT" sz="1400" dirty="0" err="1"/>
              <a:t>between</a:t>
            </a:r>
            <a:r>
              <a:rPr lang="it-IT" sz="1400" dirty="0"/>
              <a:t> Training e </a:t>
            </a:r>
            <a:r>
              <a:rPr lang="it-IT" sz="1400" dirty="0" err="1"/>
              <a:t>Validation</a:t>
            </a:r>
            <a:r>
              <a:rPr lang="it-IT" sz="1400" dirty="0"/>
              <a:t> </a:t>
            </a:r>
            <a:r>
              <a:rPr lang="it-IT" sz="1400" dirty="0">
                <a:sym typeface="Wingdings" panose="05000000000000000000" pitchFamily="2" charset="2"/>
              </a:rPr>
              <a:t> </a:t>
            </a:r>
            <a:r>
              <a:rPr lang="it-IT" sz="1400" b="1" dirty="0">
                <a:sym typeface="Wingdings" panose="05000000000000000000" pitchFamily="2" charset="2"/>
              </a:rPr>
              <a:t>Gap = 4.6635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ym typeface="Wingdings" panose="05000000000000000000" pitchFamily="2" charset="2"/>
              </a:rPr>
              <a:t>The Ensemble </a:t>
            </a:r>
            <a:r>
              <a:rPr lang="it-IT" sz="1400" dirty="0" err="1">
                <a:sym typeface="Wingdings" panose="05000000000000000000" pitchFamily="2" charset="2"/>
              </a:rPr>
              <a:t>also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performed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better</a:t>
            </a:r>
            <a:r>
              <a:rPr lang="it-IT" sz="1400" dirty="0">
                <a:sym typeface="Wingdings" panose="05000000000000000000" pitchFamily="2" charset="2"/>
              </a:rPr>
              <a:t> </a:t>
            </a:r>
            <a:r>
              <a:rPr lang="it-IT" sz="1400" dirty="0" err="1">
                <a:sym typeface="Wingdings" panose="05000000000000000000" pitchFamily="2" charset="2"/>
              </a:rPr>
              <a:t>than</a:t>
            </a:r>
            <a:r>
              <a:rPr lang="it-IT" sz="1400" dirty="0">
                <a:sym typeface="Wingdings" panose="05000000000000000000" pitchFamily="2" charset="2"/>
              </a:rPr>
              <a:t> the </a:t>
            </a:r>
            <a:r>
              <a:rPr lang="it-IT" sz="1400" dirty="0" err="1">
                <a:sym typeface="Wingdings" panose="05000000000000000000" pitchFamily="2" charset="2"/>
              </a:rPr>
              <a:t>mean</a:t>
            </a:r>
            <a:r>
              <a:rPr lang="it-IT" sz="1400" dirty="0">
                <a:sym typeface="Wingdings" panose="05000000000000000000" pitchFamily="2" charset="2"/>
              </a:rPr>
              <a:t> of the 5 </a:t>
            </a:r>
            <a:r>
              <a:rPr lang="it-IT" sz="1400" dirty="0" err="1">
                <a:sym typeface="Wingdings" panose="05000000000000000000" pitchFamily="2" charset="2"/>
              </a:rPr>
              <a:t>seeds</a:t>
            </a:r>
            <a:r>
              <a:rPr lang="it-IT" sz="1400" dirty="0">
                <a:sym typeface="Wingdings" panose="05000000000000000000" pitchFamily="2" charset="2"/>
              </a:rPr>
              <a:t> 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600" b="1" dirty="0">
                <a:sym typeface="Wingdings" panose="05000000000000000000" pitchFamily="2" charset="2"/>
              </a:rPr>
              <a:t>18.2175 vs 19.14186</a:t>
            </a: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A3DD2C-52A6-FBA7-1EB5-4279586C65EA}"/>
              </a:ext>
            </a:extLst>
          </p:cNvPr>
          <p:cNvSpPr txBox="1"/>
          <p:nvPr/>
        </p:nvSpPr>
        <p:spPr>
          <a:xfrm>
            <a:off x="11694910" y="0"/>
            <a:ext cx="49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141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06F9-10DC-C7E3-06F2-DE66294C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9F5321-268A-EF36-6A10-D20904D8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– </a:t>
            </a:r>
            <a:r>
              <a:rPr lang="it-IT" b="1" dirty="0" err="1"/>
              <a:t>Ensembling</a:t>
            </a:r>
            <a:r>
              <a:rPr lang="it-IT" b="1" dirty="0"/>
              <a:t> (II)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F60B6A-3562-4B3B-11CF-8ABBBA0EDF96}"/>
              </a:ext>
            </a:extLst>
          </p:cNvPr>
          <p:cNvSpPr txBox="1"/>
          <p:nvPr/>
        </p:nvSpPr>
        <p:spPr>
          <a:xfrm>
            <a:off x="190244" y="736430"/>
            <a:ext cx="117521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2 – Ensemble </a:t>
            </a:r>
            <a:r>
              <a:rPr lang="it-IT" sz="1400" b="1" dirty="0" err="1"/>
              <a:t>between</a:t>
            </a:r>
            <a:r>
              <a:rPr lang="it-IT" sz="1400" b="1" dirty="0"/>
              <a:t> 10 </a:t>
            </a:r>
            <a:r>
              <a:rPr lang="it-IT" sz="1400" b="1" dirty="0" err="1"/>
              <a:t>different</a:t>
            </a:r>
            <a:r>
              <a:rPr lang="it-IT" sz="1400" b="1" dirty="0"/>
              <a:t> </a:t>
            </a:r>
            <a:r>
              <a:rPr lang="it-IT" sz="1400" b="1" dirty="0" err="1"/>
              <a:t>configurations</a:t>
            </a:r>
            <a:r>
              <a:rPr lang="it-IT" sz="1400" b="1" dirty="0"/>
              <a:t> :</a:t>
            </a:r>
          </a:p>
          <a:p>
            <a:endParaRPr lang="it-IT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Looking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the top 10 </a:t>
            </a:r>
            <a:r>
              <a:rPr lang="it-IT" sz="1400" dirty="0" err="1"/>
              <a:t>table</a:t>
            </a:r>
            <a:r>
              <a:rPr lang="it-IT" sz="1400" dirty="0"/>
              <a:t> of </a:t>
            </a:r>
            <a:r>
              <a:rPr lang="it-IT" sz="1400" dirty="0" err="1"/>
              <a:t>our</a:t>
            </a:r>
            <a:r>
              <a:rPr lang="it-IT" sz="1400" dirty="0"/>
              <a:t> last </a:t>
            </a:r>
            <a:r>
              <a:rPr lang="it-IT" sz="1400" dirty="0" err="1"/>
              <a:t>MLP’s</a:t>
            </a:r>
            <a:r>
              <a:rPr lang="it-IT" sz="1400" dirty="0"/>
              <a:t> </a:t>
            </a:r>
            <a:r>
              <a:rPr lang="it-IT" sz="1400" dirty="0" err="1"/>
              <a:t>gridsearch</a:t>
            </a:r>
            <a:r>
              <a:rPr lang="it-IT" sz="1400" dirty="0"/>
              <a:t>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saw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the best </a:t>
            </a:r>
            <a:r>
              <a:rPr lang="it-IT" sz="1400" dirty="0" err="1"/>
              <a:t>configuration</a:t>
            </a:r>
            <a:r>
              <a:rPr lang="it-IT" sz="1400" dirty="0"/>
              <a:t> with ‘Adam’ </a:t>
            </a:r>
            <a:r>
              <a:rPr lang="it-IT" sz="1400" dirty="0" err="1"/>
              <a:t>preferred</a:t>
            </a:r>
            <a:r>
              <a:rPr lang="it-IT" sz="1400" dirty="0"/>
              <a:t> to use a low </a:t>
            </a:r>
            <a:r>
              <a:rPr lang="it-IT" sz="1400" dirty="0" err="1"/>
              <a:t>regularization</a:t>
            </a:r>
            <a:r>
              <a:rPr lang="it-IT" sz="1400" dirty="0"/>
              <a:t> (Weight </a:t>
            </a:r>
            <a:r>
              <a:rPr lang="it-IT" sz="1400" dirty="0" err="1"/>
              <a:t>Decay</a:t>
            </a:r>
            <a:r>
              <a:rPr lang="it-IT" sz="1400" dirty="0"/>
              <a:t>), on the </a:t>
            </a:r>
            <a:r>
              <a:rPr lang="it-IT" sz="1400" dirty="0" err="1"/>
              <a:t>other</a:t>
            </a:r>
            <a:r>
              <a:rPr lang="it-IT" sz="1400" dirty="0"/>
              <a:t> hand ‘</a:t>
            </a:r>
            <a:r>
              <a:rPr lang="it-IT" sz="1400" dirty="0" err="1"/>
              <a:t>AdamW</a:t>
            </a:r>
            <a:r>
              <a:rPr lang="it-IT" sz="1400" dirty="0"/>
              <a:t>’ </a:t>
            </a:r>
            <a:r>
              <a:rPr lang="it-IT" sz="1400" dirty="0" err="1"/>
              <a:t>applied</a:t>
            </a:r>
            <a:r>
              <a:rPr lang="it-IT" sz="1400" dirty="0"/>
              <a:t> a </a:t>
            </a:r>
            <a:r>
              <a:rPr lang="it-IT" sz="1400" dirty="0" err="1"/>
              <a:t>stronger</a:t>
            </a:r>
            <a:r>
              <a:rPr lang="it-IT" sz="1400" b="1" dirty="0"/>
              <a:t> </a:t>
            </a:r>
            <a:r>
              <a:rPr lang="it-IT" sz="1400" dirty="0" err="1"/>
              <a:t>regularization</a:t>
            </a: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So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decided</a:t>
            </a:r>
            <a:r>
              <a:rPr lang="it-IT" sz="1400" dirty="0"/>
              <a:t> to </a:t>
            </a:r>
            <a:r>
              <a:rPr lang="it-IT" sz="1400" dirty="0" err="1"/>
              <a:t>add</a:t>
            </a:r>
            <a:r>
              <a:rPr lang="it-IT" sz="1400" dirty="0"/>
              <a:t> the </a:t>
            </a:r>
            <a:r>
              <a:rPr lang="it-IT" sz="1400" dirty="0" err="1"/>
              <a:t>heterogeneity</a:t>
            </a:r>
            <a:r>
              <a:rPr lang="it-IT" sz="1400" dirty="0"/>
              <a:t> </a:t>
            </a:r>
            <a:r>
              <a:rPr lang="it-IT" sz="1400" dirty="0" err="1"/>
              <a:t>doing</a:t>
            </a:r>
            <a:r>
              <a:rPr lang="it-IT" sz="1400" dirty="0"/>
              <a:t> an ensemble </a:t>
            </a:r>
            <a:r>
              <a:rPr lang="it-IT" sz="1400" dirty="0" err="1"/>
              <a:t>between</a:t>
            </a:r>
            <a:r>
              <a:rPr lang="it-IT" sz="1400" dirty="0"/>
              <a:t> the best 5 </a:t>
            </a:r>
            <a:r>
              <a:rPr lang="it-IT" sz="1400" dirty="0" err="1"/>
              <a:t>configurations</a:t>
            </a:r>
            <a:r>
              <a:rPr lang="it-IT" sz="1400" dirty="0"/>
              <a:t> for Adam ad </a:t>
            </a:r>
            <a:r>
              <a:rPr lang="it-IT" sz="1400" dirty="0" err="1"/>
              <a:t>AdamW</a:t>
            </a:r>
            <a:r>
              <a:rPr lang="it-IT" sz="1400" dirty="0"/>
              <a:t> (so 10 in </a:t>
            </a:r>
            <a:r>
              <a:rPr lang="it-IT" sz="1400" dirty="0" err="1"/>
              <a:t>total</a:t>
            </a:r>
            <a:r>
              <a:rPr lang="it-IT" sz="1400" dirty="0"/>
              <a:t>) 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8773B9A-7957-D647-0024-B2B08EA65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68" y="2323932"/>
            <a:ext cx="5842750" cy="2210135"/>
          </a:xfrm>
          <a:prstGeom prst="rect">
            <a:avLst/>
          </a:prstGeom>
        </p:spPr>
      </p:pic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74DF147E-3388-D526-260C-8E3A21A1CF1B}"/>
              </a:ext>
            </a:extLst>
          </p:cNvPr>
          <p:cNvSpPr/>
          <p:nvPr/>
        </p:nvSpPr>
        <p:spPr>
          <a:xfrm>
            <a:off x="6621729" y="3221879"/>
            <a:ext cx="822346" cy="380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79CCA01-6A72-1CFA-8903-9A2342FC3976}"/>
              </a:ext>
            </a:extLst>
          </p:cNvPr>
          <p:cNvSpPr txBox="1"/>
          <p:nvPr/>
        </p:nvSpPr>
        <p:spPr>
          <a:xfrm>
            <a:off x="7781606" y="2625203"/>
            <a:ext cx="42590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Ensemble </a:t>
            </a:r>
            <a:r>
              <a:rPr lang="it-IT" b="1" dirty="0" err="1"/>
              <a:t>Results</a:t>
            </a:r>
            <a:r>
              <a:rPr lang="it-IT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Training MEE : 11.6355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Validation</a:t>
            </a:r>
            <a:r>
              <a:rPr lang="it-IT" b="1" dirty="0"/>
              <a:t> MEE : 17.390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C7F019E-F9EF-B1B1-B450-5B60D73D995B}"/>
              </a:ext>
            </a:extLst>
          </p:cNvPr>
          <p:cNvSpPr txBox="1"/>
          <p:nvPr/>
        </p:nvSpPr>
        <p:spPr>
          <a:xfrm>
            <a:off x="110465" y="4780655"/>
            <a:ext cx="115496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This</a:t>
            </a:r>
            <a:r>
              <a:rPr lang="it-IT" sz="1600" dirty="0"/>
              <a:t> time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have</a:t>
            </a:r>
            <a:r>
              <a:rPr lang="it-IT" sz="1600" dirty="0"/>
              <a:t> a </a:t>
            </a:r>
            <a:r>
              <a:rPr lang="it-IT" sz="1600" dirty="0" err="1"/>
              <a:t>different</a:t>
            </a:r>
            <a:r>
              <a:rPr lang="it-IT" sz="1600" dirty="0"/>
              <a:t> </a:t>
            </a:r>
            <a:r>
              <a:rPr lang="it-IT" sz="1600" dirty="0" err="1"/>
              <a:t>result</a:t>
            </a:r>
            <a:r>
              <a:rPr lang="it-IT" sz="1600" dirty="0"/>
              <a:t> </a:t>
            </a:r>
            <a:r>
              <a:rPr lang="it-IT" sz="1600" dirty="0" err="1"/>
              <a:t>compared</a:t>
            </a:r>
            <a:r>
              <a:rPr lang="it-IT" sz="1600" dirty="0"/>
              <a:t> with the </a:t>
            </a:r>
            <a:r>
              <a:rPr lang="it-IT" sz="1600" dirty="0" err="1"/>
              <a:t>previous</a:t>
            </a:r>
            <a:r>
              <a:rPr lang="it-IT" sz="1600" dirty="0"/>
              <a:t>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didn’t</a:t>
            </a:r>
            <a:r>
              <a:rPr lang="it-IT" sz="1600" dirty="0"/>
              <a:t> </a:t>
            </a:r>
            <a:r>
              <a:rPr lang="it-IT" sz="1600" dirty="0" err="1"/>
              <a:t>decrease</a:t>
            </a:r>
            <a:r>
              <a:rPr lang="it-IT" sz="1600" dirty="0"/>
              <a:t> the gap </a:t>
            </a:r>
            <a:r>
              <a:rPr lang="it-IT" sz="1600" dirty="0" err="1"/>
              <a:t>between</a:t>
            </a:r>
            <a:r>
              <a:rPr lang="it-IT" sz="1600" dirty="0"/>
              <a:t> Training and </a:t>
            </a:r>
            <a:r>
              <a:rPr lang="it-IT" sz="1600" dirty="0" err="1"/>
              <a:t>Validation</a:t>
            </a:r>
            <a:r>
              <a:rPr lang="it-IT" sz="1600" dirty="0"/>
              <a:t> (</a:t>
            </a:r>
            <a:r>
              <a:rPr lang="it-IT" sz="1600" b="1" dirty="0"/>
              <a:t>Gap = 5.7545</a:t>
            </a:r>
            <a:r>
              <a:rPr lang="it-IT" sz="1600" dirty="0"/>
              <a:t>), </a:t>
            </a:r>
            <a:r>
              <a:rPr lang="it-IT" sz="1600" dirty="0" err="1"/>
              <a:t>but</a:t>
            </a:r>
            <a:r>
              <a:rPr lang="it-IT" sz="1600" dirty="0"/>
              <a:t> for the first time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were</a:t>
            </a:r>
            <a:r>
              <a:rPr lang="it-IT" sz="1600" dirty="0"/>
              <a:t> </a:t>
            </a:r>
            <a:r>
              <a:rPr lang="it-IT" sz="1600" dirty="0" err="1"/>
              <a:t>able</a:t>
            </a:r>
            <a:r>
              <a:rPr lang="it-IT" sz="1600" dirty="0"/>
              <a:t> to </a:t>
            </a:r>
            <a:r>
              <a:rPr lang="it-IT" sz="1600" dirty="0" err="1"/>
              <a:t>reach</a:t>
            </a:r>
            <a:r>
              <a:rPr lang="it-IT" sz="1600" dirty="0"/>
              <a:t> a </a:t>
            </a:r>
            <a:r>
              <a:rPr lang="it-IT" sz="1600" b="1" dirty="0" err="1"/>
              <a:t>value</a:t>
            </a:r>
            <a:r>
              <a:rPr lang="it-IT" sz="1600" b="1" dirty="0"/>
              <a:t> for MEE </a:t>
            </a:r>
            <a:r>
              <a:rPr lang="it-IT" sz="1600" b="1" dirty="0" err="1"/>
              <a:t>lower</a:t>
            </a:r>
            <a:r>
              <a:rPr lang="it-IT" sz="1600" b="1" dirty="0"/>
              <a:t> </a:t>
            </a:r>
            <a:r>
              <a:rPr lang="it-IT" sz="1600" b="1" dirty="0" err="1"/>
              <a:t>than</a:t>
            </a:r>
            <a:r>
              <a:rPr lang="it-IT" sz="1600" b="1" dirty="0"/>
              <a:t> 18.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CD0B96-D6F9-8FBA-7CED-5B746A4B3956}"/>
              </a:ext>
            </a:extLst>
          </p:cNvPr>
          <p:cNvSpPr txBox="1"/>
          <p:nvPr/>
        </p:nvSpPr>
        <p:spPr>
          <a:xfrm>
            <a:off x="11725595" y="0"/>
            <a:ext cx="46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24259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783C3-AE2B-B8E1-DFDD-4C81A232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6D1AC-7465-EF4E-A99B-3F6555ED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ML_CUP – </a:t>
            </a:r>
            <a:r>
              <a:rPr lang="it-IT" b="1" dirty="0" err="1"/>
              <a:t>Ensembling</a:t>
            </a:r>
            <a:r>
              <a:rPr lang="it-IT" b="1" dirty="0"/>
              <a:t> (III) 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61F6144-39AF-94CD-D9CC-E568EB2CB274}"/>
              </a:ext>
            </a:extLst>
          </p:cNvPr>
          <p:cNvSpPr txBox="1"/>
          <p:nvPr/>
        </p:nvSpPr>
        <p:spPr>
          <a:xfrm>
            <a:off x="202518" y="681037"/>
            <a:ext cx="11746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3 – Ensemble Meta-Learner </a:t>
            </a:r>
            <a:r>
              <a:rPr lang="it-IT" sz="1400" b="1" dirty="0" err="1"/>
              <a:t>RidgeCV</a:t>
            </a:r>
            <a:r>
              <a:rPr lang="it-IT" sz="1400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For the last step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went</a:t>
            </a:r>
            <a:r>
              <a:rPr lang="it-IT" sz="1400" dirty="0"/>
              <a:t> for an </a:t>
            </a:r>
            <a:r>
              <a:rPr lang="it-IT" sz="1400" b="1" dirty="0"/>
              <a:t>Ensemble </a:t>
            </a:r>
            <a:r>
              <a:rPr lang="it-IT" sz="1400" b="1" dirty="0" err="1"/>
              <a:t>stacking</a:t>
            </a:r>
            <a:r>
              <a:rPr lang="it-IT" sz="1400" b="1" dirty="0"/>
              <a:t> </a:t>
            </a:r>
            <a:r>
              <a:rPr lang="it-IT" sz="1400" b="1" dirty="0" err="1"/>
              <a:t>between</a:t>
            </a:r>
            <a:r>
              <a:rPr lang="it-IT" sz="1400" b="1" dirty="0"/>
              <a:t> MLP, K-NN and SVM</a:t>
            </a:r>
            <a:r>
              <a:rPr lang="it-IT" sz="1400" dirty="0"/>
              <a:t>; building a meta-</a:t>
            </a:r>
            <a:r>
              <a:rPr lang="it-IT" sz="1400" dirty="0" err="1"/>
              <a:t>learner</a:t>
            </a:r>
            <a:r>
              <a:rPr lang="it-IT" sz="1400" dirty="0"/>
              <a:t> (</a:t>
            </a:r>
            <a:r>
              <a:rPr lang="it-IT" sz="1400" dirty="0" err="1"/>
              <a:t>RidgeCV</a:t>
            </a:r>
            <a:r>
              <a:rPr lang="it-IT" sz="1400" dirty="0"/>
              <a:t> [14]) </a:t>
            </a:r>
            <a:r>
              <a:rPr lang="it-IT" sz="1400" dirty="0" err="1"/>
              <a:t>based</a:t>
            </a:r>
            <a:r>
              <a:rPr lang="it-IT" sz="1400" dirty="0"/>
              <a:t> on the </a:t>
            </a:r>
            <a:r>
              <a:rPr lang="it-IT" sz="1400" dirty="0" err="1"/>
              <a:t>result</a:t>
            </a:r>
            <a:r>
              <a:rPr lang="it-IT" sz="1400" dirty="0"/>
              <a:t> of the 3 models, </a:t>
            </a:r>
            <a:r>
              <a:rPr lang="it-IT" sz="1400" dirty="0" err="1"/>
              <a:t>hoping</a:t>
            </a:r>
            <a:r>
              <a:rPr lang="it-IT" sz="1400" dirty="0"/>
              <a:t> to </a:t>
            </a:r>
            <a:r>
              <a:rPr lang="it-IT" sz="1400" dirty="0" err="1"/>
              <a:t>maximize</a:t>
            </a:r>
            <a:r>
              <a:rPr lang="it-IT" sz="1400" dirty="0"/>
              <a:t> the </a:t>
            </a:r>
            <a:r>
              <a:rPr lang="it-IT" sz="1400" dirty="0" err="1"/>
              <a:t>heterogeneity</a:t>
            </a:r>
            <a:r>
              <a:rPr lang="it-IT" sz="1400" dirty="0"/>
              <a:t> and </a:t>
            </a:r>
            <a:r>
              <a:rPr lang="it-IT" sz="1400" dirty="0" err="1"/>
              <a:t>also</a:t>
            </a:r>
            <a:r>
              <a:rPr lang="it-IT" sz="1400" dirty="0"/>
              <a:t> </a:t>
            </a:r>
            <a:r>
              <a:rPr lang="it-IT" sz="1400" dirty="0" err="1"/>
              <a:t>minimize</a:t>
            </a:r>
            <a:r>
              <a:rPr lang="it-IT" sz="1400" dirty="0"/>
              <a:t> the MEE </a:t>
            </a:r>
            <a:r>
              <a:rPr lang="it-IT" sz="1400" dirty="0" err="1"/>
              <a:t>error</a:t>
            </a:r>
            <a:r>
              <a:rPr lang="it-IT" sz="1400" dirty="0"/>
              <a:t> with the help of the good </a:t>
            </a:r>
            <a:r>
              <a:rPr lang="it-IT" sz="1400" dirty="0" err="1"/>
              <a:t>results</a:t>
            </a:r>
            <a:r>
              <a:rPr lang="it-IT" sz="1400" dirty="0"/>
              <a:t> of K-NN and 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First </a:t>
            </a:r>
            <a:r>
              <a:rPr lang="it-IT" sz="1400" dirty="0" err="1"/>
              <a:t>thing</a:t>
            </a:r>
            <a:r>
              <a:rPr lang="it-IT" sz="1400" dirty="0"/>
              <a:t> to do </a:t>
            </a:r>
            <a:r>
              <a:rPr lang="it-IT" sz="1400" dirty="0" err="1"/>
              <a:t>was</a:t>
            </a:r>
            <a:r>
              <a:rPr lang="it-IT" sz="1400" dirty="0"/>
              <a:t> </a:t>
            </a:r>
            <a:r>
              <a:rPr lang="it-IT" sz="1400" dirty="0" err="1"/>
              <a:t>choosing</a:t>
            </a:r>
            <a:r>
              <a:rPr lang="it-IT" sz="1400" dirty="0"/>
              <a:t> the </a:t>
            </a:r>
            <a:r>
              <a:rPr lang="it-IT" sz="1400" dirty="0" err="1"/>
              <a:t>configuration</a:t>
            </a:r>
            <a:r>
              <a:rPr lang="it-IT" sz="1400" dirty="0"/>
              <a:t> for MLP. </a:t>
            </a:r>
            <a:r>
              <a:rPr lang="it-IT" sz="1400" dirty="0" err="1"/>
              <a:t>Knowing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our</a:t>
            </a:r>
            <a:r>
              <a:rPr lang="it-IT" sz="1400" dirty="0"/>
              <a:t> best </a:t>
            </a:r>
            <a:r>
              <a:rPr lang="it-IT" sz="1400" dirty="0" err="1"/>
              <a:t>result</a:t>
            </a:r>
            <a:r>
              <a:rPr lang="it-IT" sz="1400" dirty="0"/>
              <a:t> of the </a:t>
            </a:r>
            <a:r>
              <a:rPr lang="it-IT" sz="1400" dirty="0" err="1"/>
              <a:t>gridsearches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based</a:t>
            </a:r>
            <a:r>
              <a:rPr lang="it-IT" sz="1400" dirty="0"/>
              <a:t> on a </a:t>
            </a:r>
            <a:r>
              <a:rPr lang="it-IT" sz="1400" dirty="0" err="1"/>
              <a:t>lucky</a:t>
            </a:r>
            <a:r>
              <a:rPr lang="it-IT" sz="1400" dirty="0"/>
              <a:t> </a:t>
            </a:r>
            <a:r>
              <a:rPr lang="it-IT" sz="1400" dirty="0" err="1"/>
              <a:t>seed</a:t>
            </a:r>
            <a:r>
              <a:rPr lang="it-IT" sz="1400" dirty="0"/>
              <a:t>,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decided</a:t>
            </a:r>
            <a:r>
              <a:rPr lang="it-IT" sz="1400" dirty="0"/>
              <a:t> to do a </a:t>
            </a:r>
            <a:r>
              <a:rPr lang="it-IT" sz="1400" b="1" dirty="0"/>
              <a:t>Multiple </a:t>
            </a:r>
            <a:r>
              <a:rPr lang="it-IT" sz="1400" b="1" dirty="0" err="1"/>
              <a:t>Restart</a:t>
            </a:r>
            <a:r>
              <a:rPr lang="it-IT" sz="1400" b="1" dirty="0"/>
              <a:t> over 5 </a:t>
            </a:r>
            <a:r>
              <a:rPr lang="it-IT" sz="1400" b="1" dirty="0" err="1"/>
              <a:t>seeds</a:t>
            </a:r>
            <a:r>
              <a:rPr lang="it-IT" sz="1400" b="1" dirty="0"/>
              <a:t> </a:t>
            </a:r>
            <a:r>
              <a:rPr lang="it-IT" sz="1400" dirty="0"/>
              <a:t>for the </a:t>
            </a:r>
            <a:r>
              <a:rPr lang="it-IT" sz="1400" dirty="0" err="1"/>
              <a:t>same</a:t>
            </a:r>
            <a:r>
              <a:rPr lang="it-IT" sz="1400" dirty="0"/>
              <a:t> 10 </a:t>
            </a:r>
            <a:r>
              <a:rPr lang="it-IT" sz="1400" dirty="0" err="1"/>
              <a:t>configurations</a:t>
            </a:r>
            <a:r>
              <a:rPr lang="it-IT" sz="1400" dirty="0"/>
              <a:t> of the </a:t>
            </a:r>
            <a:r>
              <a:rPr lang="it-IT" sz="1400" dirty="0" err="1"/>
              <a:t>previous</a:t>
            </a:r>
            <a:r>
              <a:rPr lang="it-IT" sz="1400" dirty="0"/>
              <a:t> ensemble and </a:t>
            </a:r>
            <a:r>
              <a:rPr lang="it-IT" sz="1400" dirty="0" err="1"/>
              <a:t>pick</a:t>
            </a:r>
            <a:r>
              <a:rPr lang="it-IT" sz="1400" dirty="0"/>
              <a:t> one </a:t>
            </a:r>
            <a:r>
              <a:rPr lang="it-IT" sz="1400" dirty="0" err="1"/>
              <a:t>based</a:t>
            </a:r>
            <a:r>
              <a:rPr lang="it-IT" sz="1400" dirty="0"/>
              <a:t> on the </a:t>
            </a:r>
            <a:r>
              <a:rPr lang="it-IT" sz="1400" dirty="0" err="1"/>
              <a:t>average</a:t>
            </a:r>
            <a:r>
              <a:rPr lang="it-IT" sz="1400" dirty="0"/>
              <a:t> :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1A3AE8E-85DC-8F5A-71DD-789BB19FC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41" y="1850588"/>
            <a:ext cx="5228047" cy="1819301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CA7C5655-B2D9-F1AC-66BD-813D6B7D84AE}"/>
              </a:ext>
            </a:extLst>
          </p:cNvPr>
          <p:cNvCxnSpPr/>
          <p:nvPr/>
        </p:nvCxnSpPr>
        <p:spPr>
          <a:xfrm>
            <a:off x="5566180" y="2215426"/>
            <a:ext cx="16140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88B038-3D44-7C62-660B-543E56F0D008}"/>
              </a:ext>
            </a:extLst>
          </p:cNvPr>
          <p:cNvSpPr txBox="1"/>
          <p:nvPr/>
        </p:nvSpPr>
        <p:spPr>
          <a:xfrm>
            <a:off x="7262902" y="2028559"/>
            <a:ext cx="4498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This</a:t>
            </a:r>
            <a:r>
              <a:rPr lang="it-IT" sz="1600" b="1" dirty="0"/>
              <a:t> </a:t>
            </a:r>
            <a:r>
              <a:rPr lang="it-IT" sz="1600" b="1" dirty="0" err="1"/>
              <a:t>is</a:t>
            </a:r>
            <a:r>
              <a:rPr lang="it-IT" sz="1600" b="1" dirty="0"/>
              <a:t> the winner !!</a:t>
            </a:r>
          </a:p>
          <a:p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will</a:t>
            </a:r>
            <a:r>
              <a:rPr lang="it-IT" sz="1600" dirty="0"/>
              <a:t> be part of the ensemble </a:t>
            </a:r>
            <a:r>
              <a:rPr lang="it-IT" sz="1600" dirty="0" err="1"/>
              <a:t>stacking</a:t>
            </a:r>
            <a:r>
              <a:rPr lang="it-IT" sz="1600" dirty="0"/>
              <a:t> [15] with the winners of K-NN and SVM </a:t>
            </a:r>
            <a:r>
              <a:rPr lang="it-IT" sz="1600" dirty="0" err="1"/>
              <a:t>shown</a:t>
            </a:r>
            <a:r>
              <a:rPr lang="it-IT" sz="1600" dirty="0"/>
              <a:t> in the slide «ML_CUP – K-NN and SVM»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AEBBFAD-1F93-92DD-D513-AA1E63602EF4}"/>
              </a:ext>
            </a:extLst>
          </p:cNvPr>
          <p:cNvSpPr txBox="1"/>
          <p:nvPr/>
        </p:nvSpPr>
        <p:spPr>
          <a:xfrm>
            <a:off x="2215425" y="4273242"/>
            <a:ext cx="1137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RidgeCV’s</a:t>
            </a:r>
            <a:r>
              <a:rPr lang="it-IT" b="1" dirty="0"/>
              <a:t> </a:t>
            </a:r>
            <a:r>
              <a:rPr lang="it-IT" b="1" dirty="0" err="1"/>
              <a:t>Result</a:t>
            </a:r>
            <a:r>
              <a:rPr lang="it-IT" b="1" dirty="0"/>
              <a:t> </a:t>
            </a:r>
            <a:r>
              <a:rPr lang="it-IT" b="1" dirty="0">
                <a:sym typeface="Wingdings" panose="05000000000000000000" pitchFamily="2" charset="2"/>
              </a:rPr>
              <a:t></a:t>
            </a:r>
            <a:r>
              <a:rPr lang="it-IT" b="1" dirty="0"/>
              <a:t> </a:t>
            </a:r>
            <a:r>
              <a:rPr lang="it-IT" b="1" dirty="0" err="1"/>
              <a:t>Validation</a:t>
            </a:r>
            <a:r>
              <a:rPr lang="it-IT" b="1" dirty="0"/>
              <a:t> MEE : 14.3715 , alpha = 10.00 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89BC9BD-E577-5DCD-A83E-29582CEA71E5}"/>
              </a:ext>
            </a:extLst>
          </p:cNvPr>
          <p:cNvCxnSpPr/>
          <p:nvPr/>
        </p:nvCxnSpPr>
        <p:spPr>
          <a:xfrm flipH="1">
            <a:off x="6498991" y="3105777"/>
            <a:ext cx="926673" cy="1042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4E4EA5-530F-F658-926A-C62F030BBC6F}"/>
              </a:ext>
            </a:extLst>
          </p:cNvPr>
          <p:cNvSpPr txBox="1"/>
          <p:nvPr/>
        </p:nvSpPr>
        <p:spPr>
          <a:xfrm>
            <a:off x="275573" y="4716049"/>
            <a:ext cx="1156778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result</a:t>
            </a:r>
            <a:r>
              <a:rPr lang="it-IT" sz="1400" dirty="0"/>
              <a:t> </a:t>
            </a:r>
            <a:r>
              <a:rPr lang="it-IT" sz="1400" dirty="0" err="1"/>
              <a:t>was</a:t>
            </a:r>
            <a:r>
              <a:rPr lang="it-IT" sz="1400" dirty="0"/>
              <a:t> the best of </a:t>
            </a:r>
            <a:r>
              <a:rPr lang="it-IT" sz="1400" dirty="0" err="1"/>
              <a:t>all</a:t>
            </a:r>
            <a:r>
              <a:rPr lang="it-IT" sz="1400" dirty="0"/>
              <a:t> the study, so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decided</a:t>
            </a:r>
            <a:r>
              <a:rPr lang="it-IT" sz="1400" dirty="0"/>
              <a:t> to </a:t>
            </a:r>
            <a:r>
              <a:rPr lang="it-IT" sz="1400" dirty="0" err="1"/>
              <a:t>choose</a:t>
            </a:r>
            <a:r>
              <a:rPr lang="it-IT" sz="1400" dirty="0"/>
              <a:t>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our</a:t>
            </a:r>
            <a:r>
              <a:rPr lang="it-IT" sz="1400" dirty="0"/>
              <a:t> </a:t>
            </a:r>
            <a:r>
              <a:rPr lang="it-IT" sz="1400" dirty="0" err="1"/>
              <a:t>final</a:t>
            </a:r>
            <a:r>
              <a:rPr lang="it-IT" sz="1400" dirty="0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So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went</a:t>
            </a:r>
            <a:r>
              <a:rPr lang="it-IT" sz="1400" dirty="0"/>
              <a:t> for the </a:t>
            </a:r>
            <a:r>
              <a:rPr lang="it-IT" sz="1400" b="1" dirty="0"/>
              <a:t>Model </a:t>
            </a:r>
            <a:r>
              <a:rPr lang="it-IT" sz="1400" b="1" dirty="0" err="1"/>
              <a:t>Assessment</a:t>
            </a:r>
            <a:r>
              <a:rPr lang="it-IT" sz="1400" dirty="0"/>
              <a:t>, </a:t>
            </a:r>
            <a:r>
              <a:rPr lang="it-IT" sz="1400" dirty="0" err="1"/>
              <a:t>but</a:t>
            </a:r>
            <a:r>
              <a:rPr lang="it-IT" sz="1400" dirty="0"/>
              <a:t> </a:t>
            </a:r>
            <a:r>
              <a:rPr lang="it-IT" sz="1400" dirty="0" err="1"/>
              <a:t>only</a:t>
            </a:r>
            <a:r>
              <a:rPr lang="it-IT" sz="1400" dirty="0"/>
              <a:t> after a </a:t>
            </a:r>
            <a:r>
              <a:rPr lang="it-IT" sz="1400" b="1" dirty="0"/>
              <a:t>first Re-training on the full 400 samples </a:t>
            </a:r>
            <a:r>
              <a:rPr lang="it-IT" sz="1400" dirty="0"/>
              <a:t>(TR + VL), cause </a:t>
            </a:r>
            <a:r>
              <a:rPr lang="it-IT" sz="1400" b="1" dirty="0" err="1"/>
              <a:t>we’ve</a:t>
            </a:r>
            <a:r>
              <a:rPr lang="it-IT" sz="1400" b="1" dirty="0"/>
              <a:t> </a:t>
            </a:r>
            <a:r>
              <a:rPr lang="it-IT" sz="1400" b="1" dirty="0" err="1"/>
              <a:t>used</a:t>
            </a:r>
            <a:r>
              <a:rPr lang="it-IT" sz="1400" b="1" dirty="0"/>
              <a:t> 10% for the </a:t>
            </a:r>
            <a:r>
              <a:rPr lang="it-IT" sz="1400" b="1" dirty="0" err="1"/>
              <a:t>early</a:t>
            </a:r>
            <a:r>
              <a:rPr lang="it-IT" sz="1400" b="1" dirty="0"/>
              <a:t> </a:t>
            </a:r>
            <a:r>
              <a:rPr lang="it-IT" sz="1400" b="1" dirty="0" err="1"/>
              <a:t>stopping</a:t>
            </a:r>
            <a:r>
              <a:rPr lang="it-IT" sz="1400" dirty="0"/>
              <a:t> (</a:t>
            </a:r>
            <a:r>
              <a:rPr lang="it-IT" sz="1400" dirty="0" err="1"/>
              <a:t>this</a:t>
            </a:r>
            <a:r>
              <a:rPr lang="it-IT" sz="1400" dirty="0"/>
              <a:t> time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used</a:t>
            </a:r>
            <a:r>
              <a:rPr lang="it-IT" sz="1400" dirty="0"/>
              <a:t> a </a:t>
            </a:r>
            <a:r>
              <a:rPr lang="it-IT" sz="1400" dirty="0" err="1"/>
              <a:t>median</a:t>
            </a:r>
            <a:r>
              <a:rPr lang="it-IT" sz="1400" dirty="0"/>
              <a:t> of the </a:t>
            </a:r>
            <a:r>
              <a:rPr lang="it-IT" sz="1400" dirty="0" err="1"/>
              <a:t>epochs</a:t>
            </a:r>
            <a:r>
              <a:rPr lang="it-IT" sz="1400" dirty="0"/>
              <a:t> to </a:t>
            </a:r>
            <a:r>
              <a:rPr lang="it-IT" sz="1400" dirty="0" err="1"/>
              <a:t>not</a:t>
            </a:r>
            <a:r>
              <a:rPr lang="it-IT" sz="1400" dirty="0"/>
              <a:t> </a:t>
            </a:r>
            <a:r>
              <a:rPr lang="it-IT" sz="1400" dirty="0" err="1"/>
              <a:t>waste</a:t>
            </a:r>
            <a:r>
              <a:rPr lang="it-IT" sz="1400" dirty="0"/>
              <a:t> </a:t>
            </a:r>
            <a:r>
              <a:rPr lang="it-IT" sz="1400" dirty="0" err="1"/>
              <a:t>any</a:t>
            </a:r>
            <a:r>
              <a:rPr lang="it-IT" sz="1400" dirty="0"/>
              <a:t>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Test MEE : 14.3289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Then after a </a:t>
            </a:r>
            <a:r>
              <a:rPr lang="it-IT" sz="1400" dirty="0" err="1"/>
              <a:t>final</a:t>
            </a:r>
            <a:r>
              <a:rPr lang="it-IT" sz="1400" dirty="0"/>
              <a:t> </a:t>
            </a:r>
            <a:r>
              <a:rPr lang="it-IT" sz="1400" b="1" dirty="0"/>
              <a:t>Re-training on the full dataset </a:t>
            </a:r>
            <a:r>
              <a:rPr lang="it-IT" sz="1400" dirty="0" err="1"/>
              <a:t>we’ve</a:t>
            </a:r>
            <a:r>
              <a:rPr lang="it-IT" sz="1400" dirty="0"/>
              <a:t> </a:t>
            </a:r>
            <a:r>
              <a:rPr lang="it-IT" sz="1400" dirty="0" err="1"/>
              <a:t>produced</a:t>
            </a:r>
            <a:r>
              <a:rPr lang="it-IT" sz="1400" dirty="0"/>
              <a:t> the outputs for the </a:t>
            </a:r>
            <a:r>
              <a:rPr lang="it-IT" sz="1400" b="1" dirty="0"/>
              <a:t>Blind Test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1246AF-07BF-E769-0C56-372B7BF2791B}"/>
              </a:ext>
            </a:extLst>
          </p:cNvPr>
          <p:cNvSpPr txBox="1"/>
          <p:nvPr/>
        </p:nvSpPr>
        <p:spPr>
          <a:xfrm>
            <a:off x="11676162" y="10029"/>
            <a:ext cx="507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1792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C017-CD4E-B5D1-0C88-248FBB6E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C6DDF3-CBFB-5D26-F0C7-BCD8D6CB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b="1" dirty="0" err="1"/>
              <a:t>Conclusions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FB2A3C3-D4BB-8950-E3D3-941D32D4FA13}"/>
              </a:ext>
            </a:extLst>
          </p:cNvPr>
          <p:cNvSpPr txBox="1"/>
          <p:nvPr/>
        </p:nvSpPr>
        <p:spPr>
          <a:xfrm>
            <a:off x="292100" y="681037"/>
            <a:ext cx="5341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final</a:t>
            </a:r>
            <a:r>
              <a:rPr lang="it-IT" dirty="0"/>
              <a:t> model </a:t>
            </a:r>
            <a:r>
              <a:rPr lang="it-IT" dirty="0" err="1"/>
              <a:t>is</a:t>
            </a:r>
            <a:r>
              <a:rPr lang="it-IT" dirty="0"/>
              <a:t> an Ensemble </a:t>
            </a:r>
            <a:r>
              <a:rPr lang="it-IT" dirty="0" err="1"/>
              <a:t>Stacking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plot a standard Loss Curve.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But </a:t>
            </a:r>
            <a:r>
              <a:rPr lang="it-IT" dirty="0" err="1"/>
              <a:t>we</a:t>
            </a:r>
            <a:r>
              <a:rPr lang="it-IT" dirty="0"/>
              <a:t> can show an alpha curve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TR / VL / TS TABLE 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C003C98-9B71-9291-488B-178DD55D9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4282"/>
            <a:ext cx="5658315" cy="277334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2B58BE0-3E38-1570-AB75-376F7A1A0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8" y="2676851"/>
            <a:ext cx="5340624" cy="1339919"/>
          </a:xfrm>
          <a:prstGeom prst="rect">
            <a:avLst/>
          </a:prstGeom>
        </p:spPr>
      </p:pic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B3C16035-9F90-9EFB-2576-BBA75370062D}"/>
              </a:ext>
            </a:extLst>
          </p:cNvPr>
          <p:cNvSpPr/>
          <p:nvPr/>
        </p:nvSpPr>
        <p:spPr>
          <a:xfrm>
            <a:off x="4162118" y="1594483"/>
            <a:ext cx="1849256" cy="168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EB07AE9-A0D2-6538-B8C8-8C92FDE6CB30}"/>
              </a:ext>
            </a:extLst>
          </p:cNvPr>
          <p:cNvSpPr txBox="1"/>
          <p:nvPr/>
        </p:nvSpPr>
        <p:spPr>
          <a:xfrm>
            <a:off x="128876" y="4246744"/>
            <a:ext cx="1189333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FINAL THOUGHTS :</a:t>
            </a:r>
          </a:p>
          <a:p>
            <a:r>
              <a:rPr lang="en-US" sz="1400" dirty="0"/>
              <a:t>The results of our three ensemble approaches illustrate the </a:t>
            </a:r>
            <a:r>
              <a:rPr lang="en-US" sz="1400" b="1" dirty="0"/>
              <a:t>Krogh-Vedelsby decomposition </a:t>
            </a:r>
            <a:r>
              <a:rPr lang="en-US" sz="1400" dirty="0"/>
              <a:t>[13] :</a:t>
            </a:r>
            <a:r>
              <a:rPr lang="it-IT" sz="1400" b="1" dirty="0"/>
              <a:t> «</a:t>
            </a:r>
            <a:r>
              <a:rPr lang="en-US" sz="1400" i="1" dirty="0"/>
              <a:t>Ensemble methods mathematically guarantee a decrease in error” </a:t>
            </a:r>
          </a:p>
          <a:p>
            <a:endParaRPr lang="en-US" sz="1400" i="1" dirty="0"/>
          </a:p>
          <a:p>
            <a:r>
              <a:rPr lang="en-US" sz="1400" dirty="0"/>
              <a:t>Furthermore, the choice of a Stacking Meta-Learner as the final model allows us to leverage the strong individual performances of KNN and SVR alongside MLP: the </a:t>
            </a:r>
            <a:r>
              <a:rPr lang="en-US" sz="1400" dirty="0" err="1"/>
              <a:t>RidgeCV</a:t>
            </a:r>
            <a:r>
              <a:rPr lang="en-US" sz="1400" dirty="0"/>
              <a:t> meta-learner learns to optimally weight the three base learners' predictions, exploiting their complementary error patterns to reduce the overall MEE beyond what any single model achieves alone.</a:t>
            </a:r>
            <a:endParaRPr lang="en-US" sz="1400" i="1" dirty="0"/>
          </a:p>
          <a:p>
            <a:endParaRPr lang="en-US" sz="1400" i="1" dirty="0"/>
          </a:p>
          <a:p>
            <a:r>
              <a:rPr lang="it-IT" sz="1400" dirty="0" err="1"/>
              <a:t>This</a:t>
            </a:r>
            <a:r>
              <a:rPr lang="it-IT" sz="1400" dirty="0"/>
              <a:t> project </a:t>
            </a:r>
            <a:r>
              <a:rPr lang="it-IT" sz="1400" dirty="0" err="1"/>
              <a:t>gave</a:t>
            </a:r>
            <a:r>
              <a:rPr lang="it-IT" sz="1400" dirty="0"/>
              <a:t> </a:t>
            </a:r>
            <a:r>
              <a:rPr lang="it-IT" sz="1400" dirty="0" err="1"/>
              <a:t>us</a:t>
            </a:r>
            <a:r>
              <a:rPr lang="it-IT" sz="1400" dirty="0"/>
              <a:t> the chance to </a:t>
            </a:r>
            <a:r>
              <a:rPr lang="it-IT" sz="1400" dirty="0" err="1"/>
              <a:t>have</a:t>
            </a:r>
            <a:r>
              <a:rPr lang="it-IT" sz="1400" dirty="0"/>
              <a:t> a first taste of a Machine Learning </a:t>
            </a:r>
            <a:r>
              <a:rPr lang="it-IT" sz="1400" dirty="0" err="1"/>
              <a:t>problem</a:t>
            </a:r>
            <a:r>
              <a:rPr lang="it-IT" sz="1400" dirty="0"/>
              <a:t>. </a:t>
            </a:r>
            <a:r>
              <a:rPr lang="it-IT" sz="1400" dirty="0" err="1"/>
              <a:t>Beside</a:t>
            </a:r>
            <a:r>
              <a:rPr lang="it-IT" sz="1400" dirty="0"/>
              <a:t> </a:t>
            </a:r>
            <a:r>
              <a:rPr lang="it-IT" sz="1400" dirty="0" err="1"/>
              <a:t>being</a:t>
            </a:r>
            <a:r>
              <a:rPr lang="it-IT" sz="1400" dirty="0"/>
              <a:t> the first </a:t>
            </a:r>
            <a:r>
              <a:rPr lang="it-IT" sz="1400" dirty="0" err="1"/>
              <a:t>experience</a:t>
            </a:r>
            <a:r>
              <a:rPr lang="it-IT" sz="1400" dirty="0"/>
              <a:t> for </a:t>
            </a:r>
            <a:r>
              <a:rPr lang="it-IT" sz="1400" dirty="0" err="1"/>
              <a:t>both</a:t>
            </a:r>
            <a:r>
              <a:rPr lang="it-IT" sz="1400" dirty="0"/>
              <a:t> of </a:t>
            </a:r>
            <a:r>
              <a:rPr lang="it-IT" sz="1400" dirty="0" err="1"/>
              <a:t>us</a:t>
            </a:r>
            <a:r>
              <a:rPr lang="it-IT" sz="1400" dirty="0"/>
              <a:t>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experience</a:t>
            </a:r>
            <a:r>
              <a:rPr lang="it-IT" sz="1400" dirty="0"/>
              <a:t> </a:t>
            </a:r>
            <a:r>
              <a:rPr lang="it-IT" sz="1400" dirty="0" err="1"/>
              <a:t>was</a:t>
            </a:r>
            <a:r>
              <a:rPr lang="it-IT" sz="1400" dirty="0"/>
              <a:t> </a:t>
            </a:r>
            <a:r>
              <a:rPr lang="it-IT" sz="1400" dirty="0" err="1"/>
              <a:t>rewarding</a:t>
            </a:r>
            <a:r>
              <a:rPr lang="it-IT" sz="1400" dirty="0"/>
              <a:t> and </a:t>
            </a:r>
            <a:r>
              <a:rPr lang="it-IT" sz="1400" dirty="0" err="1"/>
              <a:t>enjoyable</a:t>
            </a:r>
            <a:r>
              <a:rPr lang="it-IT" sz="1400" dirty="0"/>
              <a:t>. </a:t>
            </a:r>
            <a:r>
              <a:rPr lang="en-US" sz="1400" dirty="0"/>
              <a:t>Being able to see and experiment with concepts that we had previously only seen in class was definitely a great experience.</a:t>
            </a:r>
          </a:p>
          <a:p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9A998F0-A211-76CA-02BF-84118D35E69D}"/>
              </a:ext>
            </a:extLst>
          </p:cNvPr>
          <p:cNvSpPr txBox="1"/>
          <p:nvPr/>
        </p:nvSpPr>
        <p:spPr>
          <a:xfrm>
            <a:off x="11701047" y="0"/>
            <a:ext cx="49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24800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BEF65E-144E-2D93-AC2B-73859F41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Bibliography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86CD00-1082-5D60-D908-2E344E76D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1471"/>
            <a:ext cx="12192000" cy="5505001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[1] - Xavier </a:t>
            </a:r>
            <a:r>
              <a:rPr lang="en-US" sz="1400" dirty="0" err="1"/>
              <a:t>Glorot</a:t>
            </a:r>
            <a:r>
              <a:rPr lang="en-US" sz="1400" dirty="0"/>
              <a:t> and Yoshua Bengio. Understanding the difficulty of training deep feedforward neural networks. </a:t>
            </a:r>
            <a:r>
              <a:rPr lang="en-US" sz="1400" i="1" dirty="0"/>
              <a:t>Proceedings of the thirteenth international conference on artificial intelligence and statistics</a:t>
            </a:r>
            <a:r>
              <a:rPr lang="en-US" sz="1400" dirty="0"/>
              <a:t>, 249-256, 2010.</a:t>
            </a:r>
          </a:p>
          <a:p>
            <a:r>
              <a:rPr lang="it-IT" sz="1400" dirty="0"/>
              <a:t>[2] - Kaiming He, </a:t>
            </a:r>
            <a:r>
              <a:rPr lang="it-IT" sz="1400" dirty="0" err="1"/>
              <a:t>Xiangyu</a:t>
            </a:r>
            <a:r>
              <a:rPr lang="it-IT" sz="1400" dirty="0"/>
              <a:t> Zhang, Shaoqing Ren, and Jian Sun. Delving deep </a:t>
            </a:r>
            <a:r>
              <a:rPr lang="it-IT" sz="1400" dirty="0" err="1"/>
              <a:t>into</a:t>
            </a:r>
            <a:r>
              <a:rPr lang="it-IT" sz="1400" dirty="0"/>
              <a:t> </a:t>
            </a:r>
            <a:r>
              <a:rPr lang="it-IT" sz="1400" dirty="0" err="1"/>
              <a:t>rectifiers</a:t>
            </a:r>
            <a:r>
              <a:rPr lang="it-IT" sz="1400" dirty="0"/>
              <a:t>: </a:t>
            </a:r>
            <a:r>
              <a:rPr lang="it-IT" sz="1400" dirty="0" err="1"/>
              <a:t>Surpassing</a:t>
            </a:r>
            <a:r>
              <a:rPr lang="it-IT" sz="1400" dirty="0"/>
              <a:t> human-</a:t>
            </a:r>
            <a:r>
              <a:rPr lang="it-IT" sz="1400" dirty="0" err="1"/>
              <a:t>level</a:t>
            </a:r>
            <a:r>
              <a:rPr lang="it-IT" sz="1400" dirty="0"/>
              <a:t> performance on </a:t>
            </a:r>
            <a:r>
              <a:rPr lang="it-IT" sz="1400" dirty="0" err="1"/>
              <a:t>ImageNet</a:t>
            </a:r>
            <a:r>
              <a:rPr lang="it-IT" sz="1400" dirty="0"/>
              <a:t> </a:t>
            </a:r>
            <a:r>
              <a:rPr lang="it-IT" sz="1400" dirty="0" err="1"/>
              <a:t>classification</a:t>
            </a:r>
            <a:r>
              <a:rPr lang="it-IT" sz="1400" dirty="0"/>
              <a:t>. </a:t>
            </a:r>
            <a:r>
              <a:rPr lang="it-IT" sz="1400" i="1" dirty="0" err="1"/>
              <a:t>Proceedings</a:t>
            </a:r>
            <a:r>
              <a:rPr lang="it-IT" sz="1400" i="1" dirty="0"/>
              <a:t> of the IEEE international conference on computer vision</a:t>
            </a:r>
            <a:r>
              <a:rPr lang="it-IT" sz="1400" dirty="0"/>
              <a:t>, 1026-1034, 2015.</a:t>
            </a:r>
          </a:p>
          <a:p>
            <a:r>
              <a:rPr lang="it-IT" sz="1400" dirty="0"/>
              <a:t>[3] – </a:t>
            </a:r>
            <a:r>
              <a:rPr lang="it-IT" sz="1400" dirty="0" err="1"/>
              <a:t>Scikit</a:t>
            </a:r>
            <a:r>
              <a:rPr lang="it-IT" sz="1400" dirty="0"/>
              <a:t>-Learn : </a:t>
            </a:r>
            <a:r>
              <a:rPr lang="it-IT" sz="1400" dirty="0">
                <a:hlinkClick r:id="rId2"/>
              </a:rPr>
              <a:t>https://scikit-learn.org/stable/</a:t>
            </a:r>
            <a:endParaRPr lang="it-IT" sz="1400" dirty="0"/>
          </a:p>
          <a:p>
            <a:r>
              <a:rPr lang="it-IT" sz="1400" dirty="0"/>
              <a:t>[4] – </a:t>
            </a:r>
            <a:r>
              <a:rPr lang="it-IT" sz="1400" dirty="0" err="1"/>
              <a:t>PyTorch</a:t>
            </a:r>
            <a:r>
              <a:rPr lang="it-IT" sz="1400" dirty="0"/>
              <a:t> : https://pytorch.org/</a:t>
            </a:r>
          </a:p>
          <a:p>
            <a:r>
              <a:rPr lang="it-IT" sz="1400" dirty="0"/>
              <a:t>[5]  - </a:t>
            </a:r>
            <a:r>
              <a:rPr lang="en-US" sz="1400" dirty="0"/>
              <a:t>Goodfellow, I., Bengio, Y., &amp; Courville, A. (2016). </a:t>
            </a:r>
            <a:r>
              <a:rPr lang="en-US" sz="1400" i="1" dirty="0"/>
              <a:t>Deep Learning</a:t>
            </a:r>
            <a:r>
              <a:rPr lang="en-US" sz="1400" dirty="0"/>
              <a:t>. MIT Press. (Chapter 6.2.2.2 - "Loss Functions for Output Units")</a:t>
            </a:r>
          </a:p>
          <a:p>
            <a:r>
              <a:rPr lang="en-US" sz="1400" dirty="0"/>
              <a:t>[6] - Choi, S., Cha, S., &amp; Tappert, C.C. (2010). A Survey of Binary Similarity and Distance Measures. </a:t>
            </a:r>
            <a:r>
              <a:rPr lang="en-US" sz="1400" i="1" dirty="0"/>
              <a:t>Journal of Systemics, Cybernetics and Informatics</a:t>
            </a:r>
            <a:r>
              <a:rPr lang="en-US" sz="1400" dirty="0"/>
              <a:t>, 8(1), 43-48.</a:t>
            </a:r>
          </a:p>
          <a:p>
            <a:r>
              <a:rPr lang="en-US" sz="1400" dirty="0"/>
              <a:t>[7] - Cho, Y., &amp; Saul, L.K. (2009). Kernel Methods for Deep Learning. </a:t>
            </a:r>
            <a:r>
              <a:rPr lang="en-US" sz="1400" i="1" dirty="0"/>
              <a:t>Advances in Neural Information Processing Systems (</a:t>
            </a:r>
            <a:r>
              <a:rPr lang="en-US" sz="1400" i="1" dirty="0" err="1"/>
              <a:t>NeurIPS</a:t>
            </a:r>
            <a:r>
              <a:rPr lang="en-US" sz="1400" i="1" dirty="0"/>
              <a:t>)</a:t>
            </a:r>
            <a:r>
              <a:rPr lang="en-US" sz="1400" dirty="0"/>
              <a:t>, 22.</a:t>
            </a:r>
          </a:p>
          <a:p>
            <a:r>
              <a:rPr lang="en-US" sz="1400" dirty="0"/>
              <a:t>[8] - </a:t>
            </a:r>
            <a:r>
              <a:rPr lang="it-IT" sz="1400" dirty="0"/>
              <a:t>Jolliffe, I.T. (2002). </a:t>
            </a:r>
            <a:r>
              <a:rPr lang="it-IT" sz="1400" dirty="0" err="1"/>
              <a:t>Principal</a:t>
            </a:r>
            <a:r>
              <a:rPr lang="it-IT" sz="1400" dirty="0"/>
              <a:t> Component Analysis (2nd ed.). Springer Series in </a:t>
            </a:r>
            <a:r>
              <a:rPr lang="it-IT" sz="1400" dirty="0" err="1"/>
              <a:t>Statistics</a:t>
            </a:r>
            <a:r>
              <a:rPr lang="it-IT" sz="1400" dirty="0"/>
              <a:t>.</a:t>
            </a:r>
            <a:endParaRPr lang="en-US" sz="1400" dirty="0"/>
          </a:p>
          <a:p>
            <a:r>
              <a:rPr lang="it-IT" sz="1400" dirty="0"/>
              <a:t>[9] - </a:t>
            </a:r>
            <a:r>
              <a:rPr lang="en-US" sz="1400" dirty="0"/>
              <a:t>Hadi &amp; Ling (1998). "Some Cautionary Notes on the Use of Principal Components Regression“</a:t>
            </a:r>
          </a:p>
          <a:p>
            <a:r>
              <a:rPr lang="en-US" sz="1400" dirty="0"/>
              <a:t>[10] - Loshchilov, I. &amp; Hutter, F. (2017). SGDR: Stochastic Gradient Descent with Warm Restarts. International Conference on Learning Representations (ICLR).</a:t>
            </a:r>
          </a:p>
          <a:p>
            <a:r>
              <a:rPr lang="en-US" sz="1400" dirty="0"/>
              <a:t>[11] - Kingma, D.P. &amp; Ba, J. (2015). Adam: A Method for Stochastic Optimization. International Conference on Learning Representations (ICLR). </a:t>
            </a:r>
          </a:p>
          <a:p>
            <a:r>
              <a:rPr lang="en-US" sz="1400" dirty="0"/>
              <a:t>[12] - Loshchilov, I. &amp; Hutter, F. (2019). Decoupled Weight Decay Regularization. International Conference on Learning Representations (ICLR).</a:t>
            </a:r>
          </a:p>
          <a:p>
            <a:r>
              <a:rPr lang="en-US" sz="1400" dirty="0"/>
              <a:t>[13] - Krogh, A., &amp; Vedelsby, J. (1995). Neural network ensembles, cross validation, and active learning. Advances in Neural Information Processing Systems, 7, 231-238.</a:t>
            </a:r>
          </a:p>
          <a:p>
            <a:r>
              <a:rPr lang="en-US" sz="1400" dirty="0"/>
              <a:t>[14] - Golub, G.H., Heath, M., &amp; Wahba, G. (1979). Generalized Cross-Validation as a Method for Choosing a Good Ridge Parameter. </a:t>
            </a:r>
            <a:r>
              <a:rPr lang="en-US" sz="1400" dirty="0" err="1"/>
              <a:t>Technometrics</a:t>
            </a:r>
            <a:r>
              <a:rPr lang="en-US" sz="1400" dirty="0"/>
              <a:t>, 21(2), 215–223.</a:t>
            </a:r>
          </a:p>
          <a:p>
            <a:r>
              <a:rPr lang="en-US" sz="1400" dirty="0"/>
              <a:t>[15] - Wolpert, D.H. (1992). Stacked Generalization. Neural Networks, 5(2), 241–259.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7711176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14241</TotalTime>
  <Words>4023</Words>
  <Application>Microsoft Office PowerPoint</Application>
  <PresentationFormat>Widescreen</PresentationFormat>
  <Paragraphs>276</Paragraphs>
  <Slides>18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Tema di Office</vt:lpstr>
      <vt:lpstr>ML Project 25/26</vt:lpstr>
      <vt:lpstr>Objectives of our Project</vt:lpstr>
      <vt:lpstr>MONKs Analysis</vt:lpstr>
      <vt:lpstr>MONKs - Linear Models (I)</vt:lpstr>
      <vt:lpstr>MONKs - Linear Models (II)</vt:lpstr>
      <vt:lpstr>MONKs - K-NN</vt:lpstr>
      <vt:lpstr>MONKs – SVM </vt:lpstr>
      <vt:lpstr>MONKs - NN (I)</vt:lpstr>
      <vt:lpstr>MONKs - NN (II) + Conclusions</vt:lpstr>
      <vt:lpstr>ML_CUP Analysis </vt:lpstr>
      <vt:lpstr>ML_CUP – Baseline and Linear Models </vt:lpstr>
      <vt:lpstr>ML_CUP – K-NN and SVM  </vt:lpstr>
      <vt:lpstr>ML_CUP – MLP  </vt:lpstr>
      <vt:lpstr>ML_CUP – Ensembling (I)  </vt:lpstr>
      <vt:lpstr>ML_CUP – Ensembling (II)</vt:lpstr>
      <vt:lpstr>ML_CUP – Ensembling (III)  </vt:lpstr>
      <vt:lpstr>Conclusions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Bernardini</dc:creator>
  <cp:lastModifiedBy>Francesco Bernardini</cp:lastModifiedBy>
  <cp:revision>39</cp:revision>
  <dcterms:created xsi:type="dcterms:W3CDTF">2026-04-05T13:27:43Z</dcterms:created>
  <dcterms:modified xsi:type="dcterms:W3CDTF">2026-05-13T20:05:44Z</dcterms:modified>
</cp:coreProperties>
</file>